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4176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5124176" cy="10689336"/>
          </a:xfrm>
          <a:prstGeom prst="rect">
            <a:avLst/>
          </a:prstGeom>
          <a:solidFill>
            <a:srgbClr val="E8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Header band"/>
          <p:cNvSpPr/>
          <p:nvPr/>
        </p:nvSpPr>
        <p:spPr>
          <a:xfrm>
            <a:off x="0" y="0"/>
            <a:ext cx="15124176" cy="1389888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9326880" cy="150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40"/>
              </a:lnSpc>
            </a:pPr>
            <a:r>
              <a:rPr sz="800" b="1" spc="120">
                <a:solidFill>
                  <a:srgbClr val="F2B705"/>
                </a:solidFill>
                <a:latin typeface="IBM Plex Mono"/>
              </a:rPr>
              <a:t>CARNEGIE MELLON UNIVERSITY  ·  NL(X) AND LLM  ·  GROUP 3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84048" y="347472"/>
            <a:ext cx="950976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400" b="1">
                <a:solidFill>
                  <a:srgbClr val="FFFFFF"/>
                </a:solidFill>
                <a:latin typeface="IBM Plex Sans Condensed"/>
              </a:rPr>
              <a:t>Can a small local model route Pittsburgh 311 requests
correctly on the first try?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097280"/>
            <a:ext cx="9326880" cy="1998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D3D8DE"/>
                </a:solidFill>
                <a:latin typeface="IBM Plex Sans"/>
              </a:rPr>
              <a:t>Afaq  ·  Rutomo  ·  Mahika  ·  Mingchin</a:t>
            </a:r>
          </a:p>
        </p:txBody>
      </p:sp>
      <p:sp>
        <p:nvSpPr>
          <p:cNvPr id="7" name="Hero T0"/>
          <p:cNvSpPr txBox="1"/>
          <p:nvPr/>
        </p:nvSpPr>
        <p:spPr>
          <a:xfrm>
            <a:off x="10378440" y="146304"/>
            <a:ext cx="14630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00"/>
              </a:lnSpc>
            </a:pPr>
            <a:r>
              <a:rPr sz="4000" b="1">
                <a:solidFill>
                  <a:srgbClr val="B6C0CC"/>
                </a:solidFill>
                <a:latin typeface="IBM Plex Sans Condensed"/>
              </a:rPr>
              <a:t>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78440" y="713232"/>
            <a:ext cx="1463040" cy="1586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5"/>
              </a:lnSpc>
            </a:pPr>
            <a:r>
              <a:rPr sz="850" b="0">
                <a:solidFill>
                  <a:srgbClr val="D3D8DE"/>
                </a:solidFill>
                <a:latin typeface="IBM Plex Sans"/>
              </a:rPr>
              <a:t>Prompt only (T0)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612880" y="448056"/>
            <a:ext cx="548639" cy="0"/>
          </a:xfrm>
          <a:prstGeom prst="line">
            <a:avLst/>
          </a:prstGeom>
          <a:ln w="38100">
            <a:solidFill>
              <a:srgbClr val="F2B70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Hero T2"/>
          <p:cNvSpPr txBox="1"/>
          <p:nvPr/>
        </p:nvSpPr>
        <p:spPr>
          <a:xfrm>
            <a:off x="12344400" y="146304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00"/>
              </a:lnSpc>
            </a:pPr>
            <a:r>
              <a:rPr sz="4000" b="1">
                <a:solidFill>
                  <a:srgbClr val="F2B705"/>
                </a:solidFill>
                <a:latin typeface="IBM Plex Sans Condensed"/>
              </a:rPr>
              <a:t>82%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0" y="713232"/>
            <a:ext cx="2194560" cy="1586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5"/>
              </a:lnSpc>
            </a:pPr>
            <a:r>
              <a:rPr sz="850" b="0">
                <a:solidFill>
                  <a:srgbClr val="D3D8DE"/>
                </a:solidFill>
                <a:latin typeface="IBM Plex Sans"/>
              </a:rPr>
              <a:t>Grounded in the city's codebook (T2)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1005840"/>
            <a:ext cx="4361687" cy="1256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45"/>
              </a:lnSpc>
            </a:pPr>
            <a:r>
              <a:rPr sz="650" b="1" spc="50">
                <a:solidFill>
                  <a:srgbClr val="B6C0CC"/>
                </a:solidFill>
                <a:latin typeface="IBM Plex Mono"/>
              </a:rPr>
              <a:t>SHARE ROUTED CORRECTLY, 50 HELD-OUT INPUTS  ·  T2 95% CI 70–92%</a:t>
            </a:r>
          </a:p>
        </p:txBody>
      </p:sp>
      <p:sp>
        <p:nvSpPr>
          <p:cNvPr id="13" name="Footer band"/>
          <p:cNvSpPr/>
          <p:nvPr/>
        </p:nvSpPr>
        <p:spPr>
          <a:xfrm>
            <a:off x="0" y="10250424"/>
            <a:ext cx="15124176" cy="438912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akeaway"/>
          <p:cNvSpPr txBox="1"/>
          <p:nvPr/>
        </p:nvSpPr>
        <p:spPr>
          <a:xfrm>
            <a:off x="384048" y="10250424"/>
            <a:ext cx="1133856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1">
                <a:solidFill>
                  <a:srgbClr val="F2B705"/>
                </a:solidFill>
                <a:latin typeface="IBM Plex Sans"/>
              </a:rPr>
              <a:t>Takeaway.  </a:t>
            </a:r>
            <a:r>
              <a:rPr sz="1000" b="0">
                <a:solidFill>
                  <a:srgbClr val="FFFFFF"/>
                </a:solidFill>
                <a:latin typeface="IBM Plex Sans"/>
              </a:rPr>
              <a:t>Grounded in Pittsburgh's own codebook, a 4-billion-parameter model running on a laptop routed 82% of held-out 311 complaints correctly. Without that grounding it routed none.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14047" y="10250424"/>
            <a:ext cx="29260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45"/>
              </a:lnSpc>
            </a:pPr>
            <a:r>
              <a:rPr sz="650" b="0">
                <a:solidFill>
                  <a:srgbClr val="B6C0CC"/>
                </a:solidFill>
                <a:latin typeface="IBM Plex Mono"/>
              </a:rPr>
              <a:t>github.com/rzrizaldy/cmu_application_nlx_llm_team3</a:t>
            </a:r>
          </a:p>
        </p:txBody>
      </p:sp>
      <p:sp>
        <p:nvSpPr>
          <p:cNvPr id="16" name="Panel 01"/>
          <p:cNvSpPr/>
          <p:nvPr/>
        </p:nvSpPr>
        <p:spPr>
          <a:xfrm>
            <a:off x="384048" y="1527048"/>
            <a:ext cx="3486150" cy="31419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1207" y="1664207"/>
            <a:ext cx="3211830" cy="1338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10"/>
              </a:lnSpc>
            </a:pPr>
            <a:r>
              <a:rPr sz="700" b="1" spc="100">
                <a:solidFill>
                  <a:srgbClr val="7A5800"/>
                </a:solidFill>
                <a:latin typeface="IBM Plex Mono"/>
              </a:rPr>
              <a:t>01  ·  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7" y="1847088"/>
            <a:ext cx="3211830" cy="2138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40"/>
              </a:lnSpc>
            </a:pPr>
            <a:r>
              <a:rPr sz="1400" b="1">
                <a:solidFill>
                  <a:srgbClr val="111418"/>
                </a:solidFill>
                <a:latin typeface="IBM Plex Sans Condensed"/>
              </a:rPr>
              <a:t>Why first-time-right intake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2134108"/>
            <a:ext cx="3211830" cy="7282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18"/>
              </a:lnSpc>
            </a:pPr>
            <a:r>
              <a:rPr sz="860" b="0">
                <a:solidFill>
                  <a:srgbClr val="1F2630"/>
                </a:solidFill>
                <a:latin typeface="IBM Plex Sans"/>
              </a:rPr>
              <a:t>When a 311 request reaches the wrong department, it waits in that queue until someone reassigns it. The City's own guide estimates that residents misclassify 5–10% of web requests. Our team brief calls the alternative first-time-right intake:</a:t>
            </a:r>
          </a:p>
        </p:txBody>
      </p:sp>
      <p:sp>
        <p:nvSpPr>
          <p:cNvPr id="20" name="Oval 19"/>
          <p:cNvSpPr/>
          <p:nvPr/>
        </p:nvSpPr>
        <p:spPr>
          <a:xfrm>
            <a:off x="521207" y="2953766"/>
            <a:ext cx="219456" cy="219456"/>
          </a:xfrm>
          <a:prstGeom prst="ellipse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21207" y="295376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40"/>
              </a:lnSpc>
            </a:pPr>
            <a:r>
              <a:rPr sz="800" b="1">
                <a:solidFill>
                  <a:srgbClr val="F2B705"/>
                </a:solidFill>
                <a:latin typeface="IBM Plex Mono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3" y="2953766"/>
            <a:ext cx="2900934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18"/>
              </a:lnSpc>
            </a:pPr>
            <a:r>
              <a:rPr sz="860" b="0">
                <a:solidFill>
                  <a:srgbClr val="1F2630"/>
                </a:solidFill>
                <a:latin typeface="IBM Plex Sans"/>
              </a:rPr>
              <a:t>Classify the request</a:t>
            </a:r>
          </a:p>
        </p:txBody>
      </p:sp>
      <p:sp>
        <p:nvSpPr>
          <p:cNvPr id="23" name="Oval 22"/>
          <p:cNvSpPr/>
          <p:nvPr/>
        </p:nvSpPr>
        <p:spPr>
          <a:xfrm>
            <a:off x="521207" y="3228086"/>
            <a:ext cx="219456" cy="219456"/>
          </a:xfrm>
          <a:prstGeom prst="ellipse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21207" y="322808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40"/>
              </a:lnSpc>
            </a:pPr>
            <a:r>
              <a:rPr sz="800" b="1">
                <a:solidFill>
                  <a:srgbClr val="F2B705"/>
                </a:solidFill>
                <a:latin typeface="IBM Plex Mono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3" y="3228086"/>
            <a:ext cx="2900934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18"/>
              </a:lnSpc>
            </a:pPr>
            <a:r>
              <a:rPr sz="860" b="0">
                <a:solidFill>
                  <a:srgbClr val="1F2630"/>
                </a:solidFill>
                <a:latin typeface="IBM Plex Sans"/>
              </a:rPr>
              <a:t>Collect the details staff need</a:t>
            </a:r>
          </a:p>
        </p:txBody>
      </p:sp>
      <p:sp>
        <p:nvSpPr>
          <p:cNvPr id="26" name="Oval 25"/>
          <p:cNvSpPr/>
          <p:nvPr/>
        </p:nvSpPr>
        <p:spPr>
          <a:xfrm>
            <a:off x="521207" y="3502405"/>
            <a:ext cx="219456" cy="219456"/>
          </a:xfrm>
          <a:prstGeom prst="ellipse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21207" y="3502405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40"/>
              </a:lnSpc>
            </a:pPr>
            <a:r>
              <a:rPr sz="800" b="1">
                <a:solidFill>
                  <a:srgbClr val="F2B705"/>
                </a:solidFill>
                <a:latin typeface="IBM Plex Mono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" y="3502405"/>
            <a:ext cx="2900934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18"/>
              </a:lnSpc>
            </a:pPr>
            <a:r>
              <a:rPr sz="860" b="0">
                <a:solidFill>
                  <a:srgbClr val="1F2630"/>
                </a:solidFill>
                <a:latin typeface="IBM Plex Sans"/>
              </a:rPr>
              <a:t>Ask one targeted clarification question</a:t>
            </a:r>
          </a:p>
        </p:txBody>
      </p:sp>
      <p:sp>
        <p:nvSpPr>
          <p:cNvPr id="29" name="Oval 28"/>
          <p:cNvSpPr/>
          <p:nvPr/>
        </p:nvSpPr>
        <p:spPr>
          <a:xfrm>
            <a:off x="521207" y="3776726"/>
            <a:ext cx="219456" cy="219456"/>
          </a:xfrm>
          <a:prstGeom prst="ellipse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21207" y="377672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40"/>
              </a:lnSpc>
            </a:pPr>
            <a:r>
              <a:rPr sz="800" b="1">
                <a:solidFill>
                  <a:srgbClr val="F2B705"/>
                </a:solidFill>
                <a:latin typeface="IBM Plex Mono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3" y="3776726"/>
            <a:ext cx="2900934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18"/>
              </a:lnSpc>
            </a:pPr>
            <a:r>
              <a:rPr sz="860" b="0">
                <a:solidFill>
                  <a:srgbClr val="1F2630"/>
                </a:solidFill>
                <a:latin typeface="IBM Plex Sans"/>
              </a:rPr>
              <a:t>Route it to the responsible department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" y="4087622"/>
            <a:ext cx="3211830" cy="4442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18"/>
              </a:lnSpc>
            </a:pPr>
            <a:r>
              <a:rPr sz="860" b="1">
                <a:solidFill>
                  <a:srgbClr val="1F2630"/>
                </a:solidFill>
                <a:latin typeface="IBM Plex Sans"/>
              </a:rPr>
              <a:t>Our question. </a:t>
            </a:r>
            <a:r>
              <a:rPr sz="860" b="0">
                <a:solidFill>
                  <a:srgbClr val="1F2630"/>
                </a:solidFill>
                <a:latin typeface="IBM Plex Sans"/>
              </a:rPr>
              <a:t>Can a 4-billion-parameter model running on a laptop do this reliably, and what does it need to get there?</a:t>
            </a:r>
          </a:p>
        </p:txBody>
      </p:sp>
      <p:sp>
        <p:nvSpPr>
          <p:cNvPr id="33" name="Panel 02"/>
          <p:cNvSpPr/>
          <p:nvPr/>
        </p:nvSpPr>
        <p:spPr>
          <a:xfrm>
            <a:off x="384048" y="4806188"/>
            <a:ext cx="3486150" cy="5307075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21207" y="4943348"/>
            <a:ext cx="3211830" cy="1338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10"/>
              </a:lnSpc>
            </a:pPr>
            <a:r>
              <a:rPr sz="700" b="1" spc="100">
                <a:solidFill>
                  <a:srgbClr val="7A5800"/>
                </a:solidFill>
                <a:latin typeface="IBM Plex Mono"/>
              </a:rPr>
              <a:t>02  · 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7" y="5126228"/>
            <a:ext cx="3211830" cy="2138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40"/>
              </a:lnSpc>
            </a:pPr>
            <a:r>
              <a:rPr sz="1400" b="1">
                <a:solidFill>
                  <a:srgbClr val="111418"/>
                </a:solidFill>
                <a:latin typeface="IBM Plex Sans Condensed"/>
              </a:rPr>
              <a:t>We built on 815,417 historical requests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7" y="5413248"/>
            <a:ext cx="1009650" cy="713232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94359" y="5477256"/>
            <a:ext cx="86334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500" b="1">
                <a:solidFill>
                  <a:srgbClr val="111418"/>
                </a:solidFill>
                <a:latin typeface="IBM Plex Sans Condensed"/>
              </a:rPr>
              <a:t>854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59" y="5751576"/>
            <a:ext cx="863346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6"/>
              </a:lnSpc>
            </a:pPr>
            <a:r>
              <a:rPr sz="680" b="0">
                <a:solidFill>
                  <a:srgbClr val="55606C"/>
                </a:solidFill>
                <a:latin typeface="IBM Plex Sans"/>
              </a:rPr>
              <a:t>records in our four Assignment 1 corpora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22298" y="5413248"/>
            <a:ext cx="1009650" cy="713232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695450" y="5477256"/>
            <a:ext cx="86334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500" b="1">
                <a:solidFill>
                  <a:srgbClr val="111418"/>
                </a:solidFill>
                <a:latin typeface="IBM Plex Sans Condensed"/>
              </a:rPr>
              <a:t>127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95450" y="5751576"/>
            <a:ext cx="863346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6"/>
              </a:lnSpc>
            </a:pPr>
            <a:r>
              <a:rPr sz="680" b="0">
                <a:solidFill>
                  <a:srgbClr val="55606C"/>
                </a:solidFill>
                <a:latin typeface="IBM Plex Sans"/>
              </a:rPr>
              <a:t>issues with historical resolution times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23388" y="5413248"/>
            <a:ext cx="1009650" cy="713232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796540" y="5477256"/>
            <a:ext cx="86334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300" b="1">
                <a:solidFill>
                  <a:srgbClr val="111418"/>
                </a:solidFill>
                <a:latin typeface="IBM Plex Sans Condensed"/>
              </a:rPr>
              <a:t>534 / 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96540" y="5751576"/>
            <a:ext cx="863346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6"/>
              </a:lnSpc>
            </a:pPr>
            <a:r>
              <a:rPr sz="680" b="0">
                <a:solidFill>
                  <a:srgbClr val="55606C"/>
                </a:solidFill>
                <a:latin typeface="IBM Plex Sans"/>
              </a:rPr>
              <a:t>DEV / held-out EVAL inputs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7" y="6254496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06"/>
              </a:lnSpc>
            </a:pPr>
            <a:r>
              <a:rPr sz="620" b="1">
                <a:solidFill>
                  <a:srgbClr val="55606C"/>
                </a:solidFill>
                <a:latin typeface="IBM Plex Mono"/>
              </a:rPr>
              <a:t>SUBTOPIC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02536" y="6254496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06"/>
              </a:lnSpc>
            </a:pPr>
            <a:r>
              <a:rPr sz="620" b="1">
                <a:solidFill>
                  <a:srgbClr val="55606C"/>
                </a:solidFill>
                <a:latin typeface="IBM Plex Mono"/>
              </a:rPr>
              <a:t>MEMBER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69464" y="6254496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06"/>
              </a:lnSpc>
            </a:pPr>
            <a:r>
              <a:rPr sz="620" b="1">
                <a:solidFill>
                  <a:srgbClr val="55606C"/>
                </a:solidFill>
                <a:latin typeface="IBM Plex Mono"/>
              </a:rPr>
              <a:t>RECORDS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44952" y="6254496"/>
            <a:ext cx="688086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06"/>
              </a:lnSpc>
            </a:pPr>
            <a:r>
              <a:rPr sz="620" b="1">
                <a:solidFill>
                  <a:srgbClr val="55606C"/>
                </a:solidFill>
                <a:latin typeface="IBM Plex Mono"/>
              </a:rPr>
              <a:t>REQUESTS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21207" y="6455664"/>
            <a:ext cx="3211831" cy="0"/>
          </a:xfrm>
          <a:prstGeom prst="line">
            <a:avLst/>
          </a:prstGeom>
          <a:ln w="9525">
            <a:solidFill>
              <a:srgbClr val="111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21207" y="6455664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87"/>
              </a:lnSpc>
            </a:pPr>
            <a:r>
              <a:rPr sz="760" b="0">
                <a:solidFill>
                  <a:srgbClr val="1F2630"/>
                </a:solidFill>
                <a:latin typeface="IBM Plex Sans"/>
              </a:rPr>
              <a:t>Streets and Mobility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02536" y="6455664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87"/>
              </a:lnSpc>
            </a:pPr>
            <a:r>
              <a:rPr sz="760" b="0">
                <a:solidFill>
                  <a:srgbClr val="1F2630"/>
                </a:solidFill>
                <a:latin typeface="IBM Plex Sans"/>
              </a:rPr>
              <a:t>Afaq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69464" y="6455664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987"/>
              </a:lnSpc>
            </a:pPr>
            <a:r>
              <a:rPr sz="760" b="0">
                <a:solidFill>
                  <a:srgbClr val="1F2630"/>
                </a:solidFill>
                <a:latin typeface="IBM Plex Sans"/>
              </a:rPr>
              <a:t>190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44952" y="6455664"/>
            <a:ext cx="688086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987"/>
              </a:lnSpc>
            </a:pPr>
            <a:r>
              <a:rPr sz="760" b="0">
                <a:solidFill>
                  <a:srgbClr val="1F2630"/>
                </a:solidFill>
                <a:latin typeface="IBM Plex Sans"/>
              </a:rPr>
              <a:t>244,708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21207" y="6656832"/>
            <a:ext cx="3211831" cy="0"/>
          </a:xfrm>
          <a:prstGeom prst="line">
            <a:avLst/>
          </a:prstGeom>
          <a:ln w="9525">
            <a:solidFill>
              <a:srgbClr val="D3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21207" y="6656832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87"/>
              </a:lnSpc>
            </a:pPr>
            <a:r>
              <a:rPr sz="760" b="0">
                <a:solidFill>
                  <a:srgbClr val="1F2630"/>
                </a:solidFill>
                <a:latin typeface="IBM Plex Sans"/>
              </a:rPr>
              <a:t>Waste and Neighborhood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02536" y="665683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87"/>
              </a:lnSpc>
            </a:pPr>
            <a:r>
              <a:rPr sz="760" b="0">
                <a:solidFill>
                  <a:srgbClr val="1F2630"/>
                </a:solidFill>
                <a:latin typeface="IBM Plex Sans"/>
              </a:rPr>
              <a:t>Rutomo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69464" y="6656832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987"/>
              </a:lnSpc>
            </a:pPr>
            <a:r>
              <a:rPr sz="760" b="0">
                <a:solidFill>
                  <a:srgbClr val="1F2630"/>
                </a:solidFill>
                <a:latin typeface="IBM Plex Sans"/>
              </a:rPr>
              <a:t>180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44952" y="6656832"/>
            <a:ext cx="688086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987"/>
              </a:lnSpc>
            </a:pPr>
            <a:r>
              <a:rPr sz="760" b="0">
                <a:solidFill>
                  <a:srgbClr val="1F2630"/>
                </a:solidFill>
                <a:latin typeface="IBM Plex Sans"/>
              </a:rPr>
              <a:t>225,001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21207" y="6858000"/>
            <a:ext cx="3211831" cy="0"/>
          </a:xfrm>
          <a:prstGeom prst="line">
            <a:avLst/>
          </a:prstGeom>
          <a:ln w="9525">
            <a:solidFill>
              <a:srgbClr val="D3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21207" y="6858000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87"/>
              </a:lnSpc>
            </a:pPr>
            <a:r>
              <a:rPr sz="760" b="0">
                <a:solidFill>
                  <a:srgbClr val="1F2630"/>
                </a:solidFill>
                <a:latin typeface="IBM Plex Sans"/>
              </a:rPr>
              <a:t>Buildings and Construction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02536" y="685800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87"/>
              </a:lnSpc>
            </a:pPr>
            <a:r>
              <a:rPr sz="760" b="0">
                <a:solidFill>
                  <a:srgbClr val="1F2630"/>
                </a:solidFill>
                <a:latin typeface="IBM Plex Sans"/>
              </a:rPr>
              <a:t>Mahika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69464" y="6858000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987"/>
              </a:lnSpc>
            </a:pPr>
            <a:r>
              <a:rPr sz="760" b="0">
                <a:solidFill>
                  <a:srgbClr val="1F2630"/>
                </a:solidFill>
                <a:latin typeface="IBM Plex Sans"/>
              </a:rPr>
              <a:t>260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44952" y="6858000"/>
            <a:ext cx="688086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987"/>
              </a:lnSpc>
            </a:pPr>
            <a:r>
              <a:rPr sz="760" b="0">
                <a:solidFill>
                  <a:srgbClr val="1F2630"/>
                </a:solidFill>
                <a:latin typeface="IBM Plex Sans"/>
              </a:rPr>
              <a:t>74,628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21207" y="7059168"/>
            <a:ext cx="3211831" cy="0"/>
          </a:xfrm>
          <a:prstGeom prst="line">
            <a:avLst/>
          </a:prstGeom>
          <a:ln w="9525">
            <a:solidFill>
              <a:srgbClr val="D3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21207" y="7059168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87"/>
              </a:lnSpc>
            </a:pPr>
            <a:r>
              <a:rPr sz="760" b="0">
                <a:solidFill>
                  <a:srgbClr val="1F2630"/>
                </a:solidFill>
                <a:latin typeface="IBM Plex Sans"/>
              </a:rPr>
              <a:t>Parks and Public Facilities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02536" y="705916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87"/>
              </a:lnSpc>
            </a:pPr>
            <a:r>
              <a:rPr sz="760" b="0">
                <a:solidFill>
                  <a:srgbClr val="1F2630"/>
                </a:solidFill>
                <a:latin typeface="IBM Plex Sans"/>
              </a:rPr>
              <a:t>Mingchin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69464" y="7059168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987"/>
              </a:lnSpc>
            </a:pPr>
            <a:r>
              <a:rPr sz="760" b="0">
                <a:solidFill>
                  <a:srgbClr val="1F2630"/>
                </a:solidFill>
                <a:latin typeface="IBM Plex Sans"/>
              </a:rPr>
              <a:t>224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044952" y="7059168"/>
            <a:ext cx="688086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987"/>
              </a:lnSpc>
            </a:pPr>
            <a:r>
              <a:rPr sz="760" b="0">
                <a:solidFill>
                  <a:srgbClr val="1F2630"/>
                </a:solidFill>
                <a:latin typeface="IBM Plex Sans"/>
              </a:rPr>
              <a:t>67,885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21207" y="7260336"/>
            <a:ext cx="3211831" cy="0"/>
          </a:xfrm>
          <a:prstGeom prst="line">
            <a:avLst/>
          </a:prstGeom>
          <a:ln w="9525">
            <a:solidFill>
              <a:srgbClr val="111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21207" y="7260336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87"/>
              </a:lnSpc>
            </a:pPr>
            <a:r>
              <a:rPr sz="760" b="1">
                <a:solidFill>
                  <a:srgbClr val="1F2630"/>
                </a:solidFill>
                <a:latin typeface="IBM Plex Sans"/>
              </a:rPr>
              <a:t>All four subtopics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02536" y="7260336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87"/>
              </a:lnSpc>
            </a:pPr>
            <a:r>
              <a:rPr sz="760" b="1">
                <a:solidFill>
                  <a:srgbClr val="1F2630"/>
                </a:solidFill>
                <a:latin typeface="IBM Plex Sans"/>
              </a:rPr>
              <a:t/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69464" y="7260336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987"/>
              </a:lnSpc>
            </a:pPr>
            <a:r>
              <a:rPr sz="760" b="1">
                <a:solidFill>
                  <a:srgbClr val="1F2630"/>
                </a:solidFill>
                <a:latin typeface="IBM Plex Sans"/>
              </a:rPr>
              <a:t>854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044952" y="7260336"/>
            <a:ext cx="688086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987"/>
              </a:lnSpc>
            </a:pPr>
            <a:r>
              <a:rPr sz="760" b="1">
                <a:solidFill>
                  <a:srgbClr val="1F2630"/>
                </a:solidFill>
                <a:latin typeface="IBM Plex Sans"/>
              </a:rPr>
              <a:t>612,222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21207" y="7516368"/>
            <a:ext cx="321183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36"/>
              </a:lnSpc>
            </a:pPr>
            <a:r>
              <a:rPr sz="720" b="0">
                <a:solidFill>
                  <a:srgbClr val="55606C"/>
                </a:solidFill>
                <a:latin typeface="IBM Plex Sans"/>
              </a:rPr>
              <a:t>612,222 of the 815,417 WPRDC requests we joined to the codebook fall in our four subtopics.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1207" y="7900416"/>
            <a:ext cx="3211830" cy="1602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18"/>
              </a:lnSpc>
            </a:pPr>
            <a:r>
              <a:rPr sz="860" b="1">
                <a:solidFill>
                  <a:srgbClr val="111418"/>
                </a:solidFill>
                <a:latin typeface="IBM Plex Sans"/>
              </a:rPr>
              <a:t>Days to close, busiest issue in each subtopic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21207" y="8129016"/>
            <a:ext cx="109728" cy="73152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676656" y="8083296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10"/>
              </a:lnSpc>
            </a:pPr>
            <a:r>
              <a:rPr sz="700" b="0">
                <a:solidFill>
                  <a:srgbClr val="55606C"/>
                </a:solidFill>
                <a:latin typeface="IBM Plex Sans"/>
              </a:rPr>
              <a:t>median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207007" y="8129016"/>
            <a:ext cx="109728" cy="73152"/>
          </a:xfrm>
          <a:prstGeom prst="rect">
            <a:avLst/>
          </a:prstGeom>
          <a:solidFill>
            <a:srgbClr val="B6C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1362456" y="808329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10"/>
              </a:lnSpc>
            </a:pPr>
            <a:r>
              <a:rPr sz="700" b="0">
                <a:solidFill>
                  <a:srgbClr val="55606C"/>
                </a:solidFill>
                <a:latin typeface="IBM Plex Sans"/>
              </a:rPr>
              <a:t>90th percentile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21207" y="8321040"/>
            <a:ext cx="1197864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51"/>
              </a:lnSpc>
            </a:pPr>
            <a:r>
              <a:rPr sz="740" b="1">
                <a:solidFill>
                  <a:srgbClr val="111418"/>
                </a:solidFill>
                <a:latin typeface="IBM Plex Sans"/>
              </a:rPr>
              <a:t>Potholes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21207" y="8467344"/>
            <a:ext cx="1197864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58"/>
              </a:lnSpc>
            </a:pPr>
            <a:r>
              <a:rPr sz="660" b="0">
                <a:solidFill>
                  <a:srgbClr val="55606C"/>
                </a:solidFill>
                <a:latin typeface="IBM Plex Sans"/>
              </a:rPr>
              <a:t>Streets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764792" y="8348471"/>
            <a:ext cx="41678" cy="100584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1843046" y="8321040"/>
            <a:ext cx="384048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84"/>
              </a:lnSpc>
            </a:pPr>
            <a:r>
              <a:rPr sz="680" b="0">
                <a:solidFill>
                  <a:srgbClr val="1F2630"/>
                </a:solidFill>
                <a:latin typeface="IBM Plex Mono"/>
              </a:rPr>
              <a:t>10.1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764792" y="8485632"/>
            <a:ext cx="358188" cy="100584"/>
          </a:xfrm>
          <a:prstGeom prst="rect">
            <a:avLst/>
          </a:prstGeom>
          <a:solidFill>
            <a:srgbClr val="B6C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2159556" y="8458200"/>
            <a:ext cx="384048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84"/>
              </a:lnSpc>
            </a:pPr>
            <a:r>
              <a:rPr sz="680" b="0">
                <a:solidFill>
                  <a:srgbClr val="1F2630"/>
                </a:solidFill>
                <a:latin typeface="IBM Plex Mono"/>
              </a:rPr>
              <a:t>86.8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21207" y="8650224"/>
            <a:ext cx="1197864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51"/>
              </a:lnSpc>
            </a:pPr>
            <a:r>
              <a:rPr sz="740" b="1">
                <a:solidFill>
                  <a:srgbClr val="111418"/>
                </a:solidFill>
                <a:latin typeface="IBM Plex Sans"/>
              </a:rPr>
              <a:t>Weeds/Debris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21207" y="8796528"/>
            <a:ext cx="1197864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58"/>
              </a:lnSpc>
            </a:pPr>
            <a:r>
              <a:rPr sz="660" b="0">
                <a:solidFill>
                  <a:srgbClr val="55606C"/>
                </a:solidFill>
                <a:latin typeface="IBM Plex Sans"/>
              </a:rPr>
              <a:t>Waste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764792" y="8677655"/>
            <a:ext cx="82119" cy="100584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1883487" y="8650224"/>
            <a:ext cx="384048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84"/>
              </a:lnSpc>
            </a:pPr>
            <a:r>
              <a:rPr sz="680" b="0">
                <a:solidFill>
                  <a:srgbClr val="1F2630"/>
                </a:solidFill>
                <a:latin typeface="IBM Plex Mono"/>
              </a:rPr>
              <a:t>19.9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764792" y="8814815"/>
            <a:ext cx="528616" cy="100584"/>
          </a:xfrm>
          <a:prstGeom prst="rect">
            <a:avLst/>
          </a:prstGeom>
          <a:solidFill>
            <a:srgbClr val="B6C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2329984" y="8787384"/>
            <a:ext cx="384048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84"/>
              </a:lnSpc>
            </a:pPr>
            <a:r>
              <a:rPr sz="680" b="0">
                <a:solidFill>
                  <a:srgbClr val="1F2630"/>
                </a:solidFill>
                <a:latin typeface="IBM Plex Mono"/>
              </a:rPr>
              <a:t>128.1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21207" y="8979407"/>
            <a:ext cx="1197864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51"/>
              </a:lnSpc>
            </a:pPr>
            <a:r>
              <a:rPr sz="740" b="1">
                <a:solidFill>
                  <a:srgbClr val="111418"/>
                </a:solidFill>
                <a:latin typeface="IBM Plex Sans"/>
              </a:rPr>
              <a:t>Building Maintenance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21207" y="9125711"/>
            <a:ext cx="1197864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58"/>
              </a:lnSpc>
            </a:pPr>
            <a:r>
              <a:rPr sz="660" b="0">
                <a:solidFill>
                  <a:srgbClr val="55606C"/>
                </a:solidFill>
                <a:latin typeface="IBM Plex Sans"/>
              </a:rPr>
              <a:t>Buildings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764792" y="9006839"/>
            <a:ext cx="118845" cy="100584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1920213" y="8979407"/>
            <a:ext cx="384048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84"/>
              </a:lnSpc>
            </a:pPr>
            <a:r>
              <a:rPr sz="680" b="0">
                <a:solidFill>
                  <a:srgbClr val="1F2630"/>
                </a:solidFill>
                <a:latin typeface="IBM Plex Mono"/>
              </a:rPr>
              <a:t>28.8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764792" y="9143999"/>
            <a:ext cx="1584198" cy="100584"/>
          </a:xfrm>
          <a:prstGeom prst="rect">
            <a:avLst/>
          </a:prstGeom>
          <a:solidFill>
            <a:srgbClr val="B6C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3385566" y="9116567"/>
            <a:ext cx="384048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84"/>
              </a:lnSpc>
            </a:pPr>
            <a:r>
              <a:rPr sz="680" b="0">
                <a:solidFill>
                  <a:srgbClr val="1F2630"/>
                </a:solidFill>
                <a:latin typeface="IBM Plex Mono"/>
              </a:rPr>
              <a:t>383.9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21207" y="9308591"/>
            <a:ext cx="1197864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51"/>
              </a:lnSpc>
            </a:pPr>
            <a:r>
              <a:rPr sz="740" b="1">
                <a:solidFill>
                  <a:srgbClr val="111418"/>
                </a:solidFill>
                <a:latin typeface="IBM Plex Sans"/>
              </a:rPr>
              <a:t>Overgrowth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21207" y="9454895"/>
            <a:ext cx="1197864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58"/>
              </a:lnSpc>
            </a:pPr>
            <a:r>
              <a:rPr sz="660" b="0">
                <a:solidFill>
                  <a:srgbClr val="55606C"/>
                </a:solidFill>
                <a:latin typeface="IBM Plex Sans"/>
              </a:rPr>
              <a:t>Parks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764792" y="9336023"/>
            <a:ext cx="89134" cy="100584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1890502" y="9308591"/>
            <a:ext cx="384048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84"/>
              </a:lnSpc>
            </a:pPr>
            <a:r>
              <a:rPr sz="680" b="0">
                <a:solidFill>
                  <a:srgbClr val="1F2630"/>
                </a:solidFill>
                <a:latin typeface="IBM Plex Mono"/>
              </a:rPr>
              <a:t>21.6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764792" y="9473183"/>
            <a:ext cx="664793" cy="100584"/>
          </a:xfrm>
          <a:prstGeom prst="rect">
            <a:avLst/>
          </a:prstGeom>
          <a:solidFill>
            <a:srgbClr val="B6C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2466161" y="9445751"/>
            <a:ext cx="384048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84"/>
              </a:lnSpc>
            </a:pPr>
            <a:r>
              <a:rPr sz="680" b="0">
                <a:solidFill>
                  <a:srgbClr val="1F2630"/>
                </a:solidFill>
                <a:latin typeface="IBM Plex Mono"/>
              </a:rPr>
              <a:t>161.1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21207" y="9656063"/>
            <a:ext cx="3211830" cy="2626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62"/>
              </a:lnSpc>
            </a:pPr>
            <a:r>
              <a:rPr sz="740" b="0">
                <a:solidFill>
                  <a:srgbClr val="55606C"/>
                </a:solidFill>
                <a:latin typeface="IBM Plex Sans"/>
              </a:rPr>
              <a:t>Our tickets report these historical ranges. Days to close record a status change, which can come before the problem is fixed.</a:t>
            </a:r>
          </a:p>
        </p:txBody>
      </p:sp>
      <p:sp>
        <p:nvSpPr>
          <p:cNvPr id="105" name="Panel 03"/>
          <p:cNvSpPr/>
          <p:nvPr/>
        </p:nvSpPr>
        <p:spPr>
          <a:xfrm>
            <a:off x="4007358" y="1527048"/>
            <a:ext cx="3486150" cy="433679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4144518" y="1664207"/>
            <a:ext cx="3211830" cy="1338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10"/>
              </a:lnSpc>
            </a:pPr>
            <a:r>
              <a:rPr sz="700" b="1" spc="100">
                <a:solidFill>
                  <a:srgbClr val="7A5800"/>
                </a:solidFill>
                <a:latin typeface="IBM Plex Mono"/>
              </a:rPr>
              <a:t>03  ·  SYSTEM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144518" y="1847088"/>
            <a:ext cx="3211830" cy="2138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40"/>
              </a:lnSpc>
            </a:pPr>
            <a:r>
              <a:rPr sz="1400" b="1">
                <a:solidFill>
                  <a:srgbClr val="111418"/>
                </a:solidFill>
                <a:latin typeface="IBM Plex Sans Condensed"/>
              </a:rPr>
              <a:t>Our intake and routing pipeline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144518" y="2134108"/>
            <a:ext cx="3211830" cy="265176"/>
          </a:xfrm>
          <a:prstGeom prst="rect">
            <a:avLst/>
          </a:prstGeom>
          <a:solidFill>
            <a:srgbClr val="F2F4F6"/>
          </a:solidFill>
          <a:ln w="9525">
            <a:solidFill>
              <a:srgbClr val="D3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4235958" y="2134108"/>
            <a:ext cx="3028950" cy="2651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92"/>
              </a:lnSpc>
            </a:pPr>
            <a:r>
              <a:rPr sz="840" b="1">
                <a:solidFill>
                  <a:srgbClr val="111418"/>
                </a:solidFill>
                <a:latin typeface="IBM Plex Sans"/>
              </a:rPr>
              <a:t>Resident complaint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5302377" y="2399284"/>
            <a:ext cx="0" cy="118871"/>
          </a:xfrm>
          <a:prstGeom prst="line">
            <a:avLst/>
          </a:prstGeom>
          <a:ln w="15875">
            <a:solidFill>
              <a:srgbClr val="5C6B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4144518" y="2518155"/>
            <a:ext cx="3211830" cy="265176"/>
          </a:xfrm>
          <a:prstGeom prst="rect">
            <a:avLst/>
          </a:prstGeom>
          <a:solidFill>
            <a:srgbClr val="F2F4F6"/>
          </a:solidFill>
          <a:ln w="9525">
            <a:solidFill>
              <a:srgbClr val="D3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4235958" y="2518155"/>
            <a:ext cx="3028950" cy="2651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92"/>
              </a:lnSpc>
            </a:pPr>
            <a:r>
              <a:rPr sz="840" b="1">
                <a:solidFill>
                  <a:srgbClr val="111418"/>
                </a:solidFill>
                <a:latin typeface="IBM Plex Sans"/>
              </a:rPr>
              <a:t>Guardrail</a:t>
            </a:r>
            <a:r>
              <a:rPr sz="680" b="0">
                <a:solidFill>
                  <a:srgbClr val="55606C"/>
                </a:solidFill>
                <a:latin typeface="IBM Plex Sans"/>
              </a:rPr>
              <a:t>  T3 only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5302377" y="2783332"/>
            <a:ext cx="0" cy="118871"/>
          </a:xfrm>
          <a:prstGeom prst="line">
            <a:avLst/>
          </a:prstGeom>
          <a:ln w="15875">
            <a:solidFill>
              <a:srgbClr val="5C6B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ectangle 113"/>
          <p:cNvSpPr/>
          <p:nvPr/>
        </p:nvSpPr>
        <p:spPr>
          <a:xfrm>
            <a:off x="4144518" y="2902203"/>
            <a:ext cx="3211830" cy="265176"/>
          </a:xfrm>
          <a:prstGeom prst="rect">
            <a:avLst/>
          </a:prstGeom>
          <a:solidFill>
            <a:srgbClr val="F2F4F6"/>
          </a:solidFill>
          <a:ln w="9525">
            <a:solidFill>
              <a:srgbClr val="D3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4235958" y="2902203"/>
            <a:ext cx="3028950" cy="2651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92"/>
              </a:lnSpc>
            </a:pPr>
            <a:r>
              <a:rPr sz="840" b="1">
                <a:solidFill>
                  <a:srgbClr val="111418"/>
                </a:solidFill>
                <a:latin typeface="IBM Plex Sans"/>
              </a:rPr>
              <a:t>TF-IDF retrieval</a:t>
            </a:r>
            <a:r>
              <a:rPr sz="680" b="0">
                <a:solidFill>
                  <a:srgbClr val="55606C"/>
                </a:solidFill>
                <a:latin typeface="IBM Plex Sans"/>
              </a:rPr>
              <a:t>  knowledge base + DEV neighbors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5302377" y="3167379"/>
            <a:ext cx="0" cy="118872"/>
          </a:xfrm>
          <a:prstGeom prst="line">
            <a:avLst/>
          </a:prstGeom>
          <a:ln w="15875">
            <a:solidFill>
              <a:srgbClr val="5C6B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ectangle 116"/>
          <p:cNvSpPr/>
          <p:nvPr/>
        </p:nvSpPr>
        <p:spPr>
          <a:xfrm>
            <a:off x="4144518" y="3286251"/>
            <a:ext cx="3211830" cy="265176"/>
          </a:xfrm>
          <a:prstGeom prst="rect">
            <a:avLst/>
          </a:prstGeom>
          <a:solidFill>
            <a:srgbClr val="F2F4F6"/>
          </a:solidFill>
          <a:ln w="9525">
            <a:solidFill>
              <a:srgbClr val="D3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4235958" y="3286251"/>
            <a:ext cx="3028950" cy="2651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92"/>
              </a:lnSpc>
            </a:pPr>
            <a:r>
              <a:rPr sz="840" b="1">
                <a:solidFill>
                  <a:srgbClr val="111418"/>
                </a:solidFill>
                <a:latin typeface="IBM Plex Sans"/>
              </a:rPr>
              <a:t>Neighbor vote on issue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5302377" y="3551427"/>
            <a:ext cx="0" cy="118872"/>
          </a:xfrm>
          <a:prstGeom prst="line">
            <a:avLst/>
          </a:prstGeom>
          <a:ln w="15875">
            <a:solidFill>
              <a:srgbClr val="5C6B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119"/>
          <p:cNvSpPr/>
          <p:nvPr/>
        </p:nvSpPr>
        <p:spPr>
          <a:xfrm>
            <a:off x="4144518" y="3670299"/>
            <a:ext cx="3211830" cy="265176"/>
          </a:xfrm>
          <a:prstGeom prst="rect">
            <a:avLst/>
          </a:prstGeom>
          <a:solidFill>
            <a:srgbClr val="F2F4F6"/>
          </a:solidFill>
          <a:ln w="9525">
            <a:solidFill>
              <a:srgbClr val="D3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4235958" y="3670299"/>
            <a:ext cx="3028950" cy="2651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92"/>
              </a:lnSpc>
            </a:pPr>
            <a:r>
              <a:rPr sz="840" b="1">
                <a:solidFill>
                  <a:srgbClr val="111418"/>
                </a:solidFill>
                <a:latin typeface="IBM Plex Sans"/>
              </a:rPr>
              <a:t>Phi-4-mini</a:t>
            </a:r>
            <a:r>
              <a:rPr sz="680" b="0">
                <a:solidFill>
                  <a:srgbClr val="55606C"/>
                </a:solidFill>
                <a:latin typeface="IBM Plex Sans"/>
              </a:rPr>
              <a:t>  local, greedy decoding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5302377" y="3935475"/>
            <a:ext cx="0" cy="118872"/>
          </a:xfrm>
          <a:prstGeom prst="line">
            <a:avLst/>
          </a:prstGeom>
          <a:ln w="15875">
            <a:solidFill>
              <a:srgbClr val="5C6B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ctangle 122"/>
          <p:cNvSpPr/>
          <p:nvPr/>
        </p:nvSpPr>
        <p:spPr>
          <a:xfrm>
            <a:off x="4144518" y="4054347"/>
            <a:ext cx="3211830" cy="265176"/>
          </a:xfrm>
          <a:prstGeom prst="rect">
            <a:avLst/>
          </a:prstGeom>
          <a:solidFill>
            <a:srgbClr val="F2F4F6"/>
          </a:solidFill>
          <a:ln w="9525">
            <a:solidFill>
              <a:srgbClr val="D3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4235958" y="4054347"/>
            <a:ext cx="3028950" cy="2651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92"/>
              </a:lnSpc>
            </a:pPr>
            <a:r>
              <a:rPr sz="840" b="1">
                <a:solidFill>
                  <a:srgbClr val="111418"/>
                </a:solidFill>
                <a:latin typeface="IBM Plex Sans"/>
              </a:rPr>
              <a:t>Snap to codebook</a:t>
            </a:r>
            <a:r>
              <a:rPr sz="680" b="0">
                <a:solidFill>
                  <a:srgbClr val="55606C"/>
                </a:solidFill>
                <a:latin typeface="IBM Plex Sans"/>
              </a:rPr>
              <a:t>  category, issue, card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5302377" y="4319523"/>
            <a:ext cx="0" cy="118872"/>
          </a:xfrm>
          <a:prstGeom prst="line">
            <a:avLst/>
          </a:prstGeom>
          <a:ln w="15875">
            <a:solidFill>
              <a:srgbClr val="5C6B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ectangle 125"/>
          <p:cNvSpPr/>
          <p:nvPr/>
        </p:nvSpPr>
        <p:spPr>
          <a:xfrm>
            <a:off x="4144518" y="4438395"/>
            <a:ext cx="2315718" cy="658368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TextBox 126"/>
          <p:cNvSpPr txBox="1"/>
          <p:nvPr/>
        </p:nvSpPr>
        <p:spPr>
          <a:xfrm>
            <a:off x="4235958" y="4502404"/>
            <a:ext cx="213283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08"/>
              </a:lnSpc>
              <a:spcAft>
                <a:spcPts val="0"/>
              </a:spcAft>
            </a:pPr>
            <a:r>
              <a:rPr sz="840" b="1">
                <a:solidFill>
                  <a:srgbClr val="F2B705"/>
                </a:solidFill>
                <a:latin typeface="IBM Plex Sans"/>
              </a:rPr>
              <a:t>Ticket311 JSON</a:t>
            </a:r>
          </a:p>
          <a:p>
            <a:pPr algn="l">
              <a:lnSpc>
                <a:spcPts val="827"/>
              </a:lnSpc>
            </a:pPr>
            <a:r>
              <a:rPr sz="690" b="0">
                <a:solidFill>
                  <a:srgbClr val="D3D8DE"/>
                </a:solidFill>
                <a:latin typeface="IBM Plex Sans"/>
              </a:rPr>
              <a:t>domain, category, issue, department, missing details, one clarification question, confidence, abstention flag, historical resolution range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716268" y="4548123"/>
            <a:ext cx="640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5C6B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6771132" y="4548123"/>
            <a:ext cx="530352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51"/>
              </a:lnSpc>
              <a:spcAft>
                <a:spcPts val="0"/>
              </a:spcAft>
            </a:pPr>
            <a:r>
              <a:rPr sz="740" b="1">
                <a:solidFill>
                  <a:srgbClr val="111418"/>
                </a:solidFill>
                <a:latin typeface="IBM Plex Sans"/>
              </a:rPr>
              <a:t>Operational evidence</a:t>
            </a:r>
          </a:p>
          <a:p>
            <a:pPr algn="ctr">
              <a:lnSpc>
                <a:spcPts val="758"/>
              </a:lnSpc>
            </a:pPr>
            <a:r>
              <a:rPr sz="660" b="0">
                <a:solidFill>
                  <a:srgbClr val="55606C"/>
                </a:solidFill>
                <a:latin typeface="IBM Plex Sans"/>
              </a:rPr>
              <a:t>days to close</a:t>
            </a:r>
          </a:p>
        </p:txBody>
      </p:sp>
      <p:cxnSp>
        <p:nvCxnSpPr>
          <p:cNvPr id="130" name="Connector 129"/>
          <p:cNvCxnSpPr/>
          <p:nvPr/>
        </p:nvCxnSpPr>
        <p:spPr>
          <a:xfrm flipH="1">
            <a:off x="6460236" y="4831587"/>
            <a:ext cx="256032" cy="0"/>
          </a:xfrm>
          <a:prstGeom prst="line">
            <a:avLst/>
          </a:prstGeom>
          <a:ln w="15875">
            <a:solidFill>
              <a:srgbClr val="5C6B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4144518" y="5206491"/>
            <a:ext cx="3211830" cy="520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7"/>
              </a:lnSpc>
            </a:pPr>
            <a:r>
              <a:rPr sz="760" b="0">
                <a:solidFill>
                  <a:srgbClr val="55606C"/>
                </a:solidFill>
                <a:latin typeface="IBM Plex Sans"/>
              </a:rPr>
              <a:t>We expose the pipeline as </a:t>
            </a:r>
            <a:r>
              <a:rPr sz="760" b="0">
                <a:solidFill>
                  <a:srgbClr val="55606C"/>
                </a:solidFill>
                <a:latin typeface="IBM Plex Mono"/>
              </a:rPr>
              <a:t>route_complaint(text)</a:t>
            </a:r>
            <a:r>
              <a:rPr sz="760" b="0">
                <a:solidFill>
                  <a:srgbClr val="55606C"/>
                </a:solidFill>
                <a:latin typeface="IBM Plex Sans"/>
              </a:rPr>
              <a:t>, built on Rutomo's LLMBox fork. It runs Phi-4-mini-instruct on an Apple M4 with greedy decoding, no repetition penalty and at most 320 new tokens.</a:t>
            </a:r>
          </a:p>
        </p:txBody>
      </p:sp>
      <p:sp>
        <p:nvSpPr>
          <p:cNvPr id="132" name="Panel 04"/>
          <p:cNvSpPr/>
          <p:nvPr/>
        </p:nvSpPr>
        <p:spPr>
          <a:xfrm>
            <a:off x="4007358" y="6001004"/>
            <a:ext cx="3486150" cy="4112259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TextBox 132"/>
          <p:cNvSpPr txBox="1"/>
          <p:nvPr/>
        </p:nvSpPr>
        <p:spPr>
          <a:xfrm>
            <a:off x="4144518" y="6138164"/>
            <a:ext cx="3211830" cy="1338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10"/>
              </a:lnSpc>
            </a:pPr>
            <a:r>
              <a:rPr sz="700" b="1" spc="100">
                <a:solidFill>
                  <a:srgbClr val="7A5800"/>
                </a:solidFill>
                <a:latin typeface="IBM Plex Mono"/>
              </a:rPr>
              <a:t>04  ·  METHOD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144518" y="6321044"/>
            <a:ext cx="3211830" cy="2138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40"/>
              </a:lnSpc>
            </a:pPr>
            <a:r>
              <a:rPr sz="1400" b="1">
                <a:solidFill>
                  <a:srgbClr val="111418"/>
                </a:solidFill>
                <a:latin typeface="IBM Plex Sans Condensed"/>
              </a:rPr>
              <a:t>Five system designs on one test set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144518" y="6644640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18"/>
              </a:lnSpc>
            </a:pPr>
            <a:r>
              <a:rPr sz="860" b="1">
                <a:solidFill>
                  <a:srgbClr val="111418"/>
                </a:solidFill>
                <a:latin typeface="IBM Plex Mono"/>
              </a:rPr>
              <a:t>T0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437126" y="664464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3"/>
              </a:lnSpc>
            </a:pPr>
            <a:r>
              <a:rPr sz="819" b="1">
                <a:solidFill>
                  <a:srgbClr val="111418"/>
                </a:solidFill>
                <a:latin typeface="IBM Plex Sans"/>
              </a:rPr>
              <a:t>Prompt only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223510" y="6644640"/>
            <a:ext cx="2132838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780" b="0">
                <a:solidFill>
                  <a:srgbClr val="1F2630"/>
                </a:solidFill>
                <a:latin typeface="IBM Plex Sans"/>
              </a:rPr>
              <a:t>The allowed categories and the complaint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4144518" y="6955536"/>
            <a:ext cx="3211830" cy="0"/>
          </a:xfrm>
          <a:prstGeom prst="line">
            <a:avLst/>
          </a:prstGeom>
          <a:ln w="9525">
            <a:solidFill>
              <a:srgbClr val="D3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4144518" y="6992112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18"/>
              </a:lnSpc>
            </a:pPr>
            <a:r>
              <a:rPr sz="860" b="1">
                <a:solidFill>
                  <a:srgbClr val="111418"/>
                </a:solidFill>
                <a:latin typeface="IBM Plex Mono"/>
              </a:rPr>
              <a:t>T1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437126" y="6992112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3"/>
              </a:lnSpc>
            </a:pPr>
            <a:r>
              <a:rPr sz="819" b="1">
                <a:solidFill>
                  <a:srgbClr val="111418"/>
                </a:solidFill>
                <a:latin typeface="IBM Plex Sans"/>
              </a:rPr>
              <a:t>+ Retrieval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223510" y="6992112"/>
            <a:ext cx="2132838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780" b="0">
                <a:solidFill>
                  <a:srgbClr val="1F2630"/>
                </a:solidFill>
                <a:latin typeface="IBM Plex Sans"/>
              </a:rPr>
              <a:t>T0 plus three retrieved knowledge documents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4144518" y="7303008"/>
            <a:ext cx="3211830" cy="0"/>
          </a:xfrm>
          <a:prstGeom prst="line">
            <a:avLst/>
          </a:prstGeom>
          <a:ln w="9525">
            <a:solidFill>
              <a:srgbClr val="D3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ectangle 142"/>
          <p:cNvSpPr/>
          <p:nvPr/>
        </p:nvSpPr>
        <p:spPr>
          <a:xfrm>
            <a:off x="4089654" y="7303008"/>
            <a:ext cx="3321558" cy="444627"/>
          </a:xfrm>
          <a:prstGeom prst="rect">
            <a:avLst/>
          </a:prstGeom>
          <a:solidFill>
            <a:srgbClr val="FB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4144518" y="7339584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18"/>
              </a:lnSpc>
            </a:pPr>
            <a:r>
              <a:rPr sz="860" b="1">
                <a:solidFill>
                  <a:srgbClr val="7A5800"/>
                </a:solidFill>
                <a:latin typeface="IBM Plex Mono"/>
              </a:rPr>
              <a:t>T2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437126" y="7339584"/>
            <a:ext cx="749808" cy="37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3"/>
              </a:lnSpc>
            </a:pPr>
            <a:r>
              <a:rPr sz="819" b="1">
                <a:solidFill>
                  <a:srgbClr val="111418"/>
                </a:solidFill>
                <a:latin typeface="IBM Plex Sans"/>
              </a:rPr>
              <a:t>+ Tools and vote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223510" y="7339584"/>
            <a:ext cx="2132838" cy="3806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780" b="0">
                <a:solidFill>
                  <a:srgbClr val="1F2630"/>
                </a:solidFill>
                <a:latin typeface="IBM Plex Sans"/>
              </a:rPr>
              <a:t>Three labeled DEV neighbors and the vote's top issue, snapped to its codebook card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4144518" y="7747635"/>
            <a:ext cx="3211830" cy="0"/>
          </a:xfrm>
          <a:prstGeom prst="line">
            <a:avLst/>
          </a:prstGeom>
          <a:ln w="9525">
            <a:solidFill>
              <a:srgbClr val="D3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4144518" y="7784210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18"/>
              </a:lnSpc>
            </a:pPr>
            <a:r>
              <a:rPr sz="860" b="1">
                <a:solidFill>
                  <a:srgbClr val="111418"/>
                </a:solidFill>
                <a:latin typeface="IBM Plex Mono"/>
              </a:rPr>
              <a:t>T3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437126" y="778421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3"/>
              </a:lnSpc>
            </a:pPr>
            <a:r>
              <a:rPr sz="819" b="1">
                <a:solidFill>
                  <a:srgbClr val="111418"/>
                </a:solidFill>
                <a:latin typeface="IBM Plex Sans"/>
              </a:rPr>
              <a:t>+ Guardrail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223510" y="7784210"/>
            <a:ext cx="2132838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780" b="0">
                <a:solidFill>
                  <a:srgbClr val="1F2630"/>
                </a:solidFill>
                <a:latin typeface="IBM Plex Sans"/>
              </a:rPr>
              <a:t>T2 behind input and output filters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4144518" y="8095107"/>
            <a:ext cx="3211830" cy="0"/>
          </a:xfrm>
          <a:prstGeom prst="line">
            <a:avLst/>
          </a:prstGeom>
          <a:ln w="9525">
            <a:solidFill>
              <a:srgbClr val="D3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4144518" y="8131683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18"/>
              </a:lnSpc>
            </a:pPr>
            <a:r>
              <a:rPr sz="860" b="1">
                <a:solidFill>
                  <a:srgbClr val="111418"/>
                </a:solidFill>
                <a:latin typeface="IBM Plex Mono"/>
              </a:rPr>
              <a:t>T4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437126" y="8131683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3"/>
              </a:lnSpc>
            </a:pPr>
            <a:r>
              <a:rPr sz="819" b="1">
                <a:solidFill>
                  <a:srgbClr val="111418"/>
                </a:solidFill>
                <a:latin typeface="IBM Plex Sans"/>
              </a:rPr>
              <a:t>LoRA finetuned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223510" y="8131683"/>
            <a:ext cx="2132838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780" b="0">
                <a:solidFill>
                  <a:srgbClr val="1F2630"/>
                </a:solidFill>
                <a:latin typeface="IBM Plex Sans"/>
              </a:rPr>
              <a:t>The T0 prompt on a LoRA-finetuned Phi (269 rows, 2 epochs)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144518" y="8570595"/>
            <a:ext cx="1009650" cy="676656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TextBox 155"/>
          <p:cNvSpPr txBox="1"/>
          <p:nvPr/>
        </p:nvSpPr>
        <p:spPr>
          <a:xfrm>
            <a:off x="4217670" y="8634603"/>
            <a:ext cx="86334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500" b="1">
                <a:solidFill>
                  <a:srgbClr val="111418"/>
                </a:solidFill>
                <a:latin typeface="IBM Plex Sans Condensed"/>
              </a:rPr>
              <a:t>50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217670" y="8890635"/>
            <a:ext cx="863346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6"/>
              </a:lnSpc>
            </a:pPr>
            <a:r>
              <a:rPr sz="680" b="0">
                <a:solidFill>
                  <a:srgbClr val="55606C"/>
                </a:solidFill>
                <a:latin typeface="IBM Plex Sans"/>
              </a:rPr>
              <a:t>held-out EVAL inputs, the same for every design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5245608" y="8570595"/>
            <a:ext cx="1009650" cy="676656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TextBox 158"/>
          <p:cNvSpPr txBox="1"/>
          <p:nvPr/>
        </p:nvSpPr>
        <p:spPr>
          <a:xfrm>
            <a:off x="5318760" y="8634603"/>
            <a:ext cx="86334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500" b="1">
                <a:solidFill>
                  <a:srgbClr val="111418"/>
                </a:solidFill>
                <a:latin typeface="IBM Plex Sans Condensed"/>
              </a:rPr>
              <a:t>0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318760" y="8890635"/>
            <a:ext cx="863346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6"/>
              </a:lnSpc>
            </a:pPr>
            <a:r>
              <a:rPr sz="680" b="0">
                <a:solidFill>
                  <a:srgbClr val="55606C"/>
                </a:solidFill>
                <a:latin typeface="IBM Plex Sans"/>
              </a:rPr>
              <a:t>EVAL items found in the knowledge base or DEV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346698" y="8570595"/>
            <a:ext cx="1009650" cy="676656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TextBox 161"/>
          <p:cNvSpPr txBox="1"/>
          <p:nvPr/>
        </p:nvSpPr>
        <p:spPr>
          <a:xfrm>
            <a:off x="6419850" y="8634603"/>
            <a:ext cx="86334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500" b="1">
                <a:solidFill>
                  <a:srgbClr val="111418"/>
                </a:solidFill>
                <a:latin typeface="IBM Plex Sans Condensed"/>
              </a:rPr>
              <a:t>1,000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419850" y="8890635"/>
            <a:ext cx="863346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6"/>
              </a:lnSpc>
            </a:pPr>
            <a:r>
              <a:rPr sz="680" b="0">
                <a:solidFill>
                  <a:srgbClr val="55606C"/>
                </a:solidFill>
                <a:latin typeface="IBM Plex Sans"/>
              </a:rPr>
              <a:t>bootstrap samples per 95% interval</a:t>
            </a:r>
          </a:p>
        </p:txBody>
      </p:sp>
      <p:sp>
        <p:nvSpPr>
          <p:cNvPr id="164" name="Panel 05"/>
          <p:cNvSpPr/>
          <p:nvPr/>
        </p:nvSpPr>
        <p:spPr>
          <a:xfrm>
            <a:off x="7630668" y="1527048"/>
            <a:ext cx="3486150" cy="4528058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TextBox 164"/>
          <p:cNvSpPr txBox="1"/>
          <p:nvPr/>
        </p:nvSpPr>
        <p:spPr>
          <a:xfrm>
            <a:off x="7767828" y="1664207"/>
            <a:ext cx="3211830" cy="1338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10"/>
              </a:lnSpc>
            </a:pPr>
            <a:r>
              <a:rPr sz="700" b="1" spc="100">
                <a:solidFill>
                  <a:srgbClr val="7A5800"/>
                </a:solidFill>
                <a:latin typeface="IBM Plex Mono"/>
              </a:rPr>
              <a:t>05  ·  RESULT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767828" y="1847088"/>
            <a:ext cx="3211830" cy="409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40"/>
              </a:lnSpc>
            </a:pPr>
            <a:r>
              <a:rPr sz="1400" b="1">
                <a:solidFill>
                  <a:srgbClr val="111418"/>
                </a:solidFill>
                <a:latin typeface="IBM Plex Sans Condensed"/>
              </a:rPr>
              <a:t>Grounding raised routing accuracy from 0% to 82%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767828" y="2329688"/>
            <a:ext cx="3211830" cy="3947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7"/>
              </a:lnSpc>
            </a:pPr>
            <a:r>
              <a:rPr sz="760" b="0">
                <a:solidFill>
                  <a:srgbClr val="55606C"/>
                </a:solidFill>
                <a:latin typeface="IBM Plex Sans"/>
              </a:rPr>
              <a:t>Routed correctly means category and department are both right. Whiskers are 95% bootstrap intervals; those for T0, T1 and T2 do not overlap.</a:t>
            </a:r>
          </a:p>
        </p:txBody>
      </p:sp>
      <p:cxnSp>
        <p:nvCxnSpPr>
          <p:cNvPr id="168" name="Connector 167"/>
          <p:cNvCxnSpPr/>
          <p:nvPr/>
        </p:nvCxnSpPr>
        <p:spPr>
          <a:xfrm>
            <a:off x="8097012" y="4114292"/>
            <a:ext cx="2882646" cy="0"/>
          </a:xfrm>
          <a:prstGeom prst="line">
            <a:avLst/>
          </a:prstGeom>
          <a:ln w="12700">
            <a:solidFill>
              <a:srgbClr val="111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7767828" y="4041140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32"/>
              </a:lnSpc>
            </a:pPr>
            <a:r>
              <a:rPr sz="640" b="0">
                <a:solidFill>
                  <a:srgbClr val="55606C"/>
                </a:solidFill>
                <a:latin typeface="IBM Plex Mono"/>
              </a:rPr>
              <a:t>0%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8097012" y="3812540"/>
            <a:ext cx="2882646" cy="0"/>
          </a:xfrm>
          <a:prstGeom prst="line">
            <a:avLst/>
          </a:prstGeom>
          <a:ln w="9525">
            <a:solidFill>
              <a:srgbClr val="E3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extBox 170"/>
          <p:cNvSpPr txBox="1"/>
          <p:nvPr/>
        </p:nvSpPr>
        <p:spPr>
          <a:xfrm>
            <a:off x="7767828" y="3739388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32"/>
              </a:lnSpc>
            </a:pPr>
            <a:r>
              <a:rPr sz="640" b="0">
                <a:solidFill>
                  <a:srgbClr val="55606C"/>
                </a:solidFill>
                <a:latin typeface="IBM Plex Mono"/>
              </a:rPr>
              <a:t>25%</a:t>
            </a:r>
          </a:p>
        </p:txBody>
      </p:sp>
      <p:cxnSp>
        <p:nvCxnSpPr>
          <p:cNvPr id="172" name="Connector 171"/>
          <p:cNvCxnSpPr/>
          <p:nvPr/>
        </p:nvCxnSpPr>
        <p:spPr>
          <a:xfrm>
            <a:off x="8097012" y="3510788"/>
            <a:ext cx="2882646" cy="0"/>
          </a:xfrm>
          <a:prstGeom prst="line">
            <a:avLst/>
          </a:prstGeom>
          <a:ln w="9525">
            <a:solidFill>
              <a:srgbClr val="E3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7767828" y="3437636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32"/>
              </a:lnSpc>
            </a:pPr>
            <a:r>
              <a:rPr sz="640" b="0">
                <a:solidFill>
                  <a:srgbClr val="55606C"/>
                </a:solidFill>
                <a:latin typeface="IBM Plex Mono"/>
              </a:rPr>
              <a:t>50%</a:t>
            </a:r>
          </a:p>
        </p:txBody>
      </p:sp>
      <p:cxnSp>
        <p:nvCxnSpPr>
          <p:cNvPr id="174" name="Connector 173"/>
          <p:cNvCxnSpPr/>
          <p:nvPr/>
        </p:nvCxnSpPr>
        <p:spPr>
          <a:xfrm>
            <a:off x="8097012" y="3209036"/>
            <a:ext cx="2882646" cy="0"/>
          </a:xfrm>
          <a:prstGeom prst="line">
            <a:avLst/>
          </a:prstGeom>
          <a:ln w="9525">
            <a:solidFill>
              <a:srgbClr val="E3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TextBox 174"/>
          <p:cNvSpPr txBox="1"/>
          <p:nvPr/>
        </p:nvSpPr>
        <p:spPr>
          <a:xfrm>
            <a:off x="7767828" y="3135884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32"/>
              </a:lnSpc>
            </a:pPr>
            <a:r>
              <a:rPr sz="640" b="0">
                <a:solidFill>
                  <a:srgbClr val="55606C"/>
                </a:solidFill>
                <a:latin typeface="IBM Plex Mono"/>
              </a:rPr>
              <a:t>75%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8097012" y="2907284"/>
            <a:ext cx="2882646" cy="0"/>
          </a:xfrm>
          <a:prstGeom prst="line">
            <a:avLst/>
          </a:prstGeom>
          <a:ln w="9525">
            <a:solidFill>
              <a:srgbClr val="E3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TextBox 176"/>
          <p:cNvSpPr txBox="1"/>
          <p:nvPr/>
        </p:nvSpPr>
        <p:spPr>
          <a:xfrm>
            <a:off x="7767828" y="2834132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32"/>
              </a:lnSpc>
            </a:pPr>
            <a:r>
              <a:rPr sz="640" b="0">
                <a:solidFill>
                  <a:srgbClr val="55606C"/>
                </a:solidFill>
                <a:latin typeface="IBM Plex Mono"/>
              </a:rPr>
              <a:t>100%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8097012" y="3931411"/>
            <a:ext cx="576529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8"/>
              </a:lnSpc>
            </a:pPr>
            <a:r>
              <a:rPr sz="860" b="1">
                <a:solidFill>
                  <a:srgbClr val="111418"/>
                </a:solidFill>
                <a:latin typeface="IBM Plex Sans Condensed"/>
              </a:rPr>
              <a:t>0%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8097012" y="4160011"/>
            <a:ext cx="576529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87"/>
              </a:lnSpc>
            </a:pPr>
            <a:r>
              <a:rPr sz="760" b="1">
                <a:solidFill>
                  <a:srgbClr val="111418"/>
                </a:solidFill>
                <a:latin typeface="IBM Plex Mono"/>
              </a:rPr>
              <a:t>T0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106156" y="4306316"/>
            <a:ext cx="55824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36"/>
              </a:lnSpc>
            </a:pPr>
            <a:r>
              <a:rPr sz="640" b="0">
                <a:solidFill>
                  <a:srgbClr val="55606C"/>
                </a:solidFill>
                <a:latin typeface="IBM Plex Sans"/>
              </a:rPr>
              <a:t>Prompt only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8800377" y="3655628"/>
            <a:ext cx="322856" cy="458663"/>
          </a:xfrm>
          <a:prstGeom prst="rect">
            <a:avLst/>
          </a:prstGeom>
          <a:solidFill>
            <a:srgbClr val="5C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82" name="Connector 181"/>
          <p:cNvCxnSpPr/>
          <p:nvPr/>
        </p:nvCxnSpPr>
        <p:spPr>
          <a:xfrm>
            <a:off x="8961805" y="3486647"/>
            <a:ext cx="0" cy="313822"/>
          </a:xfrm>
          <a:prstGeom prst="line">
            <a:avLst/>
          </a:prstGeom>
          <a:ln w="12700">
            <a:solidFill>
              <a:srgbClr val="111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8906941" y="3486647"/>
            <a:ext cx="109728" cy="0"/>
          </a:xfrm>
          <a:prstGeom prst="line">
            <a:avLst/>
          </a:prstGeom>
          <a:ln w="12700">
            <a:solidFill>
              <a:srgbClr val="111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8906941" y="3800469"/>
            <a:ext cx="109728" cy="0"/>
          </a:xfrm>
          <a:prstGeom prst="line">
            <a:avLst/>
          </a:prstGeom>
          <a:ln w="12700">
            <a:solidFill>
              <a:srgbClr val="111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8673541" y="3303767"/>
            <a:ext cx="576529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8"/>
              </a:lnSpc>
            </a:pPr>
            <a:r>
              <a:rPr sz="860" b="1">
                <a:solidFill>
                  <a:srgbClr val="111418"/>
                </a:solidFill>
                <a:latin typeface="IBM Plex Sans Condensed"/>
              </a:rPr>
              <a:t>38%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8673541" y="4160011"/>
            <a:ext cx="576529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87"/>
              </a:lnSpc>
            </a:pPr>
            <a:r>
              <a:rPr sz="760" b="1">
                <a:solidFill>
                  <a:srgbClr val="111418"/>
                </a:solidFill>
                <a:latin typeface="IBM Plex Mono"/>
              </a:rPr>
              <a:t>T1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8682685" y="4306316"/>
            <a:ext cx="55824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36"/>
              </a:lnSpc>
            </a:pPr>
            <a:r>
              <a:rPr sz="640" b="0">
                <a:solidFill>
                  <a:srgbClr val="55606C"/>
                </a:solidFill>
                <a:latin typeface="IBM Plex Sans"/>
              </a:rPr>
              <a:t>+ Retrieval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9376906" y="3124545"/>
            <a:ext cx="322856" cy="98974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89" name="Connector 188"/>
          <p:cNvCxnSpPr/>
          <p:nvPr/>
        </p:nvCxnSpPr>
        <p:spPr>
          <a:xfrm>
            <a:off x="9538335" y="3003844"/>
            <a:ext cx="0" cy="265542"/>
          </a:xfrm>
          <a:prstGeom prst="line">
            <a:avLst/>
          </a:prstGeom>
          <a:ln w="12700">
            <a:solidFill>
              <a:srgbClr val="111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9483471" y="3003844"/>
            <a:ext cx="109728" cy="0"/>
          </a:xfrm>
          <a:prstGeom prst="line">
            <a:avLst/>
          </a:prstGeom>
          <a:ln w="12700">
            <a:solidFill>
              <a:srgbClr val="111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9483471" y="3269386"/>
            <a:ext cx="109728" cy="0"/>
          </a:xfrm>
          <a:prstGeom prst="line">
            <a:avLst/>
          </a:prstGeom>
          <a:ln w="12700">
            <a:solidFill>
              <a:srgbClr val="111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9250070" y="2820964"/>
            <a:ext cx="576529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8"/>
              </a:lnSpc>
            </a:pPr>
            <a:r>
              <a:rPr sz="860" b="1">
                <a:solidFill>
                  <a:srgbClr val="111418"/>
                </a:solidFill>
                <a:latin typeface="IBM Plex Sans Condensed"/>
              </a:rPr>
              <a:t>82%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250070" y="4160011"/>
            <a:ext cx="576529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87"/>
              </a:lnSpc>
            </a:pPr>
            <a:r>
              <a:rPr sz="760" b="1">
                <a:solidFill>
                  <a:srgbClr val="111418"/>
                </a:solidFill>
                <a:latin typeface="IBM Plex Mono"/>
              </a:rPr>
              <a:t>T2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9259214" y="4306316"/>
            <a:ext cx="55824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36"/>
              </a:lnSpc>
            </a:pPr>
            <a:r>
              <a:rPr sz="640" b="0">
                <a:solidFill>
                  <a:srgbClr val="55606C"/>
                </a:solidFill>
                <a:latin typeface="IBM Plex Sans"/>
              </a:rPr>
              <a:t>+ Tools, vote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9953436" y="3124545"/>
            <a:ext cx="322856" cy="98974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96" name="Connector 195"/>
          <p:cNvCxnSpPr/>
          <p:nvPr/>
        </p:nvCxnSpPr>
        <p:spPr>
          <a:xfrm>
            <a:off x="10114864" y="3003844"/>
            <a:ext cx="0" cy="265542"/>
          </a:xfrm>
          <a:prstGeom prst="line">
            <a:avLst/>
          </a:prstGeom>
          <a:ln w="12700">
            <a:solidFill>
              <a:srgbClr val="111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10060000" y="3003844"/>
            <a:ext cx="109728" cy="0"/>
          </a:xfrm>
          <a:prstGeom prst="line">
            <a:avLst/>
          </a:prstGeom>
          <a:ln w="12700">
            <a:solidFill>
              <a:srgbClr val="111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10060000" y="3269386"/>
            <a:ext cx="109728" cy="0"/>
          </a:xfrm>
          <a:prstGeom prst="line">
            <a:avLst/>
          </a:prstGeom>
          <a:ln w="12700">
            <a:solidFill>
              <a:srgbClr val="111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9826599" y="2820964"/>
            <a:ext cx="576529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8"/>
              </a:lnSpc>
            </a:pPr>
            <a:r>
              <a:rPr sz="860" b="1">
                <a:solidFill>
                  <a:srgbClr val="111418"/>
                </a:solidFill>
                <a:latin typeface="IBM Plex Sans Condensed"/>
              </a:rPr>
              <a:t>82%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9826599" y="4160011"/>
            <a:ext cx="576529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87"/>
              </a:lnSpc>
            </a:pPr>
            <a:r>
              <a:rPr sz="760" b="1">
                <a:solidFill>
                  <a:srgbClr val="111418"/>
                </a:solidFill>
                <a:latin typeface="IBM Plex Mono"/>
              </a:rPr>
              <a:t>T3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9835743" y="4306316"/>
            <a:ext cx="55824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36"/>
              </a:lnSpc>
            </a:pPr>
            <a:r>
              <a:rPr sz="640" b="0">
                <a:solidFill>
                  <a:srgbClr val="55606C"/>
                </a:solidFill>
                <a:latin typeface="IBM Plex Sans"/>
              </a:rPr>
              <a:t>+ Guardrail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10529965" y="3510788"/>
            <a:ext cx="322856" cy="603504"/>
          </a:xfrm>
          <a:prstGeom prst="rect">
            <a:avLst/>
          </a:prstGeom>
          <a:solidFill>
            <a:srgbClr val="5C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03" name="Connector 202"/>
          <p:cNvCxnSpPr/>
          <p:nvPr/>
        </p:nvCxnSpPr>
        <p:spPr>
          <a:xfrm>
            <a:off x="10691393" y="3341806"/>
            <a:ext cx="0" cy="337963"/>
          </a:xfrm>
          <a:prstGeom prst="line">
            <a:avLst/>
          </a:prstGeom>
          <a:ln w="12700">
            <a:solidFill>
              <a:srgbClr val="111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10636529" y="3341806"/>
            <a:ext cx="109728" cy="0"/>
          </a:xfrm>
          <a:prstGeom prst="line">
            <a:avLst/>
          </a:prstGeom>
          <a:ln w="12700">
            <a:solidFill>
              <a:srgbClr val="111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10636529" y="3679769"/>
            <a:ext cx="109728" cy="0"/>
          </a:xfrm>
          <a:prstGeom prst="line">
            <a:avLst/>
          </a:prstGeom>
          <a:ln w="12700">
            <a:solidFill>
              <a:srgbClr val="111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TextBox 205"/>
          <p:cNvSpPr txBox="1"/>
          <p:nvPr/>
        </p:nvSpPr>
        <p:spPr>
          <a:xfrm>
            <a:off x="10403128" y="3158926"/>
            <a:ext cx="576529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8"/>
              </a:lnSpc>
            </a:pPr>
            <a:r>
              <a:rPr sz="860" b="1">
                <a:solidFill>
                  <a:srgbClr val="111418"/>
                </a:solidFill>
                <a:latin typeface="IBM Plex Sans Condensed"/>
              </a:rPr>
              <a:t>50%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0403128" y="4160011"/>
            <a:ext cx="576529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87"/>
              </a:lnSpc>
            </a:pPr>
            <a:r>
              <a:rPr sz="760" b="1">
                <a:solidFill>
                  <a:srgbClr val="111418"/>
                </a:solidFill>
                <a:latin typeface="IBM Plex Mono"/>
              </a:rPr>
              <a:t>T4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0412272" y="4306316"/>
            <a:ext cx="55824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36"/>
              </a:lnSpc>
            </a:pPr>
            <a:r>
              <a:rPr sz="640" b="0">
                <a:solidFill>
                  <a:srgbClr val="55606C"/>
                </a:solidFill>
                <a:latin typeface="IBM Plex Sans"/>
              </a:rPr>
              <a:t>LoRA finetuned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7767828" y="4589779"/>
            <a:ext cx="3211830" cy="6951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6"/>
              </a:lnSpc>
            </a:pPr>
            <a:r>
              <a:rPr sz="819" b="1">
                <a:solidFill>
                  <a:srgbClr val="1F2630"/>
                </a:solidFill>
                <a:latin typeface="IBM Plex Sans"/>
              </a:rPr>
              <a:t>The department is where the prompt alone fails. </a:t>
            </a:r>
            <a:r>
              <a:rPr sz="819" b="0">
                <a:solidFill>
                  <a:srgbClr val="1F2630"/>
                </a:solidFill>
                <a:latin typeface="IBM Plex Sans"/>
              </a:rPr>
              <a:t>T0 gets the issue right 56% of the time but never the department, guessing names such as “Public Works”. Retrieval raises department accuracy to 70%, and the codebook card to 82%.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7767828" y="5358129"/>
            <a:ext cx="3211830" cy="5598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6"/>
              </a:lnSpc>
            </a:pPr>
            <a:r>
              <a:rPr sz="819" b="1">
                <a:solidFill>
                  <a:srgbClr val="1F2630"/>
                </a:solidFill>
                <a:latin typeface="IBM Plex Sans"/>
              </a:rPr>
              <a:t>Finetuning helps, but less than grounding. </a:t>
            </a:r>
            <a:r>
              <a:rPr sz="819" b="0">
                <a:solidFill>
                  <a:srgbClr val="1F2630"/>
                </a:solidFill>
                <a:latin typeface="IBM Plex Sans"/>
              </a:rPr>
              <a:t>With T0's prompt, T4 routes 50% correctly and is the fastest design (9.4 s per request). Most of its misses are plausible but wrong departments.</a:t>
            </a:r>
          </a:p>
        </p:txBody>
      </p:sp>
      <p:sp>
        <p:nvSpPr>
          <p:cNvPr id="211" name="Panel 06"/>
          <p:cNvSpPr/>
          <p:nvPr/>
        </p:nvSpPr>
        <p:spPr>
          <a:xfrm>
            <a:off x="7630668" y="6192266"/>
            <a:ext cx="3486150" cy="3920997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2" name="TextBox 211"/>
          <p:cNvSpPr txBox="1"/>
          <p:nvPr/>
        </p:nvSpPr>
        <p:spPr>
          <a:xfrm>
            <a:off x="7767828" y="6329426"/>
            <a:ext cx="3211830" cy="1338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10"/>
              </a:lnSpc>
            </a:pPr>
            <a:r>
              <a:rPr sz="700" b="1" spc="100">
                <a:solidFill>
                  <a:srgbClr val="7A5800"/>
                </a:solidFill>
                <a:latin typeface="IBM Plex Mono"/>
              </a:rPr>
              <a:t>06  ·  BREAKDOWN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7767828" y="6512306"/>
            <a:ext cx="3211830" cy="409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40"/>
              </a:lnSpc>
            </a:pPr>
            <a:r>
              <a:rPr sz="1400" b="1">
                <a:solidFill>
                  <a:srgbClr val="111418"/>
                </a:solidFill>
                <a:latin typeface="IBM Plex Sans Condensed"/>
              </a:rPr>
              <a:t>Free-text complaints are the hardest case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7767828" y="7040626"/>
            <a:ext cx="109728" cy="73152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5" name="TextBox 214"/>
          <p:cNvSpPr txBox="1"/>
          <p:nvPr/>
        </p:nvSpPr>
        <p:spPr>
          <a:xfrm>
            <a:off x="7923276" y="699490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10"/>
              </a:lnSpc>
            </a:pPr>
            <a:r>
              <a:rPr sz="700" b="0">
                <a:solidFill>
                  <a:srgbClr val="55606C"/>
                </a:solidFill>
                <a:latin typeface="IBM Plex Sans"/>
              </a:rPr>
              <a:t>T2 grounded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727948" y="7040626"/>
            <a:ext cx="109728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7" name="TextBox 216"/>
          <p:cNvSpPr txBox="1"/>
          <p:nvPr/>
        </p:nvSpPr>
        <p:spPr>
          <a:xfrm>
            <a:off x="8883396" y="699490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10"/>
              </a:lnSpc>
            </a:pPr>
            <a:r>
              <a:rPr sz="700" b="0">
                <a:solidFill>
                  <a:srgbClr val="55606C"/>
                </a:solidFill>
                <a:latin typeface="IBM Plex Sans"/>
              </a:rPr>
              <a:t>T4 finetuned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767828" y="7214362"/>
            <a:ext cx="3211830" cy="123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32"/>
              </a:lnSpc>
            </a:pPr>
            <a:r>
              <a:rPr sz="640" b="1" spc="50">
                <a:solidFill>
                  <a:srgbClr val="55606C"/>
                </a:solidFill>
                <a:latin typeface="IBM Plex Mono"/>
              </a:rPr>
              <a:t>ROUTED CORRECTLY, BY GOLD DOMAIN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7767828" y="7397242"/>
            <a:ext cx="1161288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73"/>
              </a:lnSpc>
            </a:pPr>
            <a:r>
              <a:rPr sz="760" b="1">
                <a:solidFill>
                  <a:srgbClr val="111418"/>
                </a:solidFill>
                <a:latin typeface="IBM Plex Sans"/>
              </a:rPr>
              <a:t>Parks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7767828" y="7529830"/>
            <a:ext cx="116128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36"/>
              </a:lnSpc>
            </a:pPr>
            <a:r>
              <a:rPr sz="640" b="0">
                <a:solidFill>
                  <a:srgbClr val="55606C"/>
                </a:solidFill>
                <a:latin typeface="IBM Plex Sans"/>
              </a:rPr>
              <a:t>n = 14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8974836" y="7415530"/>
            <a:ext cx="1675638" cy="91440"/>
          </a:xfrm>
          <a:prstGeom prst="rect">
            <a:avLst/>
          </a:prstGeom>
          <a:solidFill>
            <a:srgbClr val="E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2" name="Rectangle 221"/>
          <p:cNvSpPr/>
          <p:nvPr/>
        </p:nvSpPr>
        <p:spPr>
          <a:xfrm>
            <a:off x="8974836" y="7415530"/>
            <a:ext cx="1441048" cy="91440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3" name="TextBox 222"/>
          <p:cNvSpPr txBox="1"/>
          <p:nvPr/>
        </p:nvSpPr>
        <p:spPr>
          <a:xfrm>
            <a:off x="10696194" y="7388098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84"/>
              </a:lnSpc>
            </a:pPr>
            <a:r>
              <a:rPr sz="680" b="0">
                <a:solidFill>
                  <a:srgbClr val="1F2630"/>
                </a:solidFill>
                <a:latin typeface="IBM Plex Mono"/>
              </a:rPr>
              <a:t>86%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8974836" y="7534402"/>
            <a:ext cx="1675638" cy="91440"/>
          </a:xfrm>
          <a:prstGeom prst="rect">
            <a:avLst/>
          </a:prstGeom>
          <a:solidFill>
            <a:srgbClr val="E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5" name="Rectangle 224"/>
          <p:cNvSpPr/>
          <p:nvPr/>
        </p:nvSpPr>
        <p:spPr>
          <a:xfrm>
            <a:off x="8974836" y="7534402"/>
            <a:ext cx="1441048" cy="9144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6" name="TextBox 225"/>
          <p:cNvSpPr txBox="1"/>
          <p:nvPr/>
        </p:nvSpPr>
        <p:spPr>
          <a:xfrm>
            <a:off x="10696194" y="7506970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84"/>
              </a:lnSpc>
            </a:pPr>
            <a:r>
              <a:rPr sz="680" b="0">
                <a:solidFill>
                  <a:srgbClr val="1F2630"/>
                </a:solidFill>
                <a:latin typeface="IBM Plex Mono"/>
              </a:rPr>
              <a:t>86%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7767828" y="7653274"/>
            <a:ext cx="1161288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73"/>
              </a:lnSpc>
            </a:pPr>
            <a:r>
              <a:rPr sz="760" b="1">
                <a:solidFill>
                  <a:srgbClr val="111418"/>
                </a:solidFill>
                <a:latin typeface="IBM Plex Sans"/>
              </a:rPr>
              <a:t>Buildings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7767828" y="7785862"/>
            <a:ext cx="116128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36"/>
              </a:lnSpc>
            </a:pPr>
            <a:r>
              <a:rPr sz="640" b="0">
                <a:solidFill>
                  <a:srgbClr val="55606C"/>
                </a:solidFill>
                <a:latin typeface="IBM Plex Sans"/>
              </a:rPr>
              <a:t>n = 11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8974836" y="7671562"/>
            <a:ext cx="1675638" cy="91440"/>
          </a:xfrm>
          <a:prstGeom prst="rect">
            <a:avLst/>
          </a:prstGeom>
          <a:solidFill>
            <a:srgbClr val="E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0" name="Rectangle 229"/>
          <p:cNvSpPr/>
          <p:nvPr/>
        </p:nvSpPr>
        <p:spPr>
          <a:xfrm>
            <a:off x="8974836" y="7671562"/>
            <a:ext cx="1374023" cy="91440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1" name="TextBox 230"/>
          <p:cNvSpPr txBox="1"/>
          <p:nvPr/>
        </p:nvSpPr>
        <p:spPr>
          <a:xfrm>
            <a:off x="10696194" y="7644130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84"/>
              </a:lnSpc>
            </a:pPr>
            <a:r>
              <a:rPr sz="680" b="0">
                <a:solidFill>
                  <a:srgbClr val="1F2630"/>
                </a:solidFill>
                <a:latin typeface="IBM Plex Mono"/>
              </a:rPr>
              <a:t>82%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8974836" y="7790434"/>
            <a:ext cx="1675638" cy="91440"/>
          </a:xfrm>
          <a:prstGeom prst="rect">
            <a:avLst/>
          </a:prstGeom>
          <a:solidFill>
            <a:srgbClr val="E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3" name="Rectangle 232"/>
          <p:cNvSpPr/>
          <p:nvPr/>
        </p:nvSpPr>
        <p:spPr>
          <a:xfrm>
            <a:off x="8974836" y="7790434"/>
            <a:ext cx="1223215" cy="9144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4" name="TextBox 233"/>
          <p:cNvSpPr txBox="1"/>
          <p:nvPr/>
        </p:nvSpPr>
        <p:spPr>
          <a:xfrm>
            <a:off x="10696194" y="7763002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84"/>
              </a:lnSpc>
            </a:pPr>
            <a:r>
              <a:rPr sz="680" b="0">
                <a:solidFill>
                  <a:srgbClr val="1F2630"/>
                </a:solidFill>
                <a:latin typeface="IBM Plex Mono"/>
              </a:rPr>
              <a:t>73%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7767828" y="7909305"/>
            <a:ext cx="1161288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73"/>
              </a:lnSpc>
            </a:pPr>
            <a:r>
              <a:rPr sz="760" b="1">
                <a:solidFill>
                  <a:srgbClr val="111418"/>
                </a:solidFill>
                <a:latin typeface="IBM Plex Sans"/>
              </a:rPr>
              <a:t>Waste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7767828" y="8041893"/>
            <a:ext cx="116128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36"/>
              </a:lnSpc>
            </a:pPr>
            <a:r>
              <a:rPr sz="640" b="0">
                <a:solidFill>
                  <a:srgbClr val="55606C"/>
                </a:solidFill>
                <a:latin typeface="IBM Plex Sans"/>
              </a:rPr>
              <a:t>n = 12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8974836" y="7927593"/>
            <a:ext cx="1675638" cy="91440"/>
          </a:xfrm>
          <a:prstGeom prst="rect">
            <a:avLst/>
          </a:prstGeom>
          <a:solidFill>
            <a:srgbClr val="E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8" name="Rectangle 237"/>
          <p:cNvSpPr/>
          <p:nvPr/>
        </p:nvSpPr>
        <p:spPr>
          <a:xfrm>
            <a:off x="8974836" y="7927593"/>
            <a:ext cx="1675638" cy="91440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9" name="TextBox 238"/>
          <p:cNvSpPr txBox="1"/>
          <p:nvPr/>
        </p:nvSpPr>
        <p:spPr>
          <a:xfrm>
            <a:off x="10696194" y="7900162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84"/>
              </a:lnSpc>
            </a:pPr>
            <a:r>
              <a:rPr sz="680" b="0">
                <a:solidFill>
                  <a:srgbClr val="1F2630"/>
                </a:solidFill>
                <a:latin typeface="IBM Plex Mono"/>
              </a:rPr>
              <a:t>100%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8974836" y="8046466"/>
            <a:ext cx="1675638" cy="91440"/>
          </a:xfrm>
          <a:prstGeom prst="rect">
            <a:avLst/>
          </a:prstGeom>
          <a:solidFill>
            <a:srgbClr val="E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1" name="Rectangle 240"/>
          <p:cNvSpPr/>
          <p:nvPr/>
        </p:nvSpPr>
        <p:spPr>
          <a:xfrm>
            <a:off x="8974836" y="8046466"/>
            <a:ext cx="418909" cy="9144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2" name="TextBox 241"/>
          <p:cNvSpPr txBox="1"/>
          <p:nvPr/>
        </p:nvSpPr>
        <p:spPr>
          <a:xfrm>
            <a:off x="10696194" y="801903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84"/>
              </a:lnSpc>
            </a:pPr>
            <a:r>
              <a:rPr sz="680" b="0">
                <a:solidFill>
                  <a:srgbClr val="1F2630"/>
                </a:solidFill>
                <a:latin typeface="IBM Plex Mono"/>
              </a:rPr>
              <a:t>25%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7767828" y="8165337"/>
            <a:ext cx="1161288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73"/>
              </a:lnSpc>
            </a:pPr>
            <a:r>
              <a:rPr sz="760" b="1">
                <a:solidFill>
                  <a:srgbClr val="111418"/>
                </a:solidFill>
                <a:latin typeface="IBM Plex Sans"/>
              </a:rPr>
              <a:t>Streets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767828" y="8297925"/>
            <a:ext cx="116128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36"/>
              </a:lnSpc>
            </a:pPr>
            <a:r>
              <a:rPr sz="640" b="0">
                <a:solidFill>
                  <a:srgbClr val="55606C"/>
                </a:solidFill>
                <a:latin typeface="IBM Plex Sans"/>
              </a:rPr>
              <a:t>n = 13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8974836" y="8183625"/>
            <a:ext cx="1675638" cy="91440"/>
          </a:xfrm>
          <a:prstGeom prst="rect">
            <a:avLst/>
          </a:prstGeom>
          <a:solidFill>
            <a:srgbClr val="E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6" name="Rectangle 245"/>
          <p:cNvSpPr/>
          <p:nvPr/>
        </p:nvSpPr>
        <p:spPr>
          <a:xfrm>
            <a:off x="8974836" y="8183625"/>
            <a:ext cx="1038895" cy="91440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7" name="TextBox 246"/>
          <p:cNvSpPr txBox="1"/>
          <p:nvPr/>
        </p:nvSpPr>
        <p:spPr>
          <a:xfrm>
            <a:off x="10696194" y="8156193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84"/>
              </a:lnSpc>
            </a:pPr>
            <a:r>
              <a:rPr sz="680" b="0">
                <a:solidFill>
                  <a:srgbClr val="1F2630"/>
                </a:solidFill>
                <a:latin typeface="IBM Plex Mono"/>
              </a:rPr>
              <a:t>62%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8974836" y="8302497"/>
            <a:ext cx="1675638" cy="91440"/>
          </a:xfrm>
          <a:prstGeom prst="rect">
            <a:avLst/>
          </a:prstGeom>
          <a:solidFill>
            <a:srgbClr val="E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9" name="Rectangle 248"/>
          <p:cNvSpPr/>
          <p:nvPr/>
        </p:nvSpPr>
        <p:spPr>
          <a:xfrm>
            <a:off x="8974836" y="8302497"/>
            <a:ext cx="251345" cy="9144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0" name="TextBox 249"/>
          <p:cNvSpPr txBox="1"/>
          <p:nvPr/>
        </p:nvSpPr>
        <p:spPr>
          <a:xfrm>
            <a:off x="10696194" y="8275066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84"/>
              </a:lnSpc>
            </a:pPr>
            <a:r>
              <a:rPr sz="680" b="0">
                <a:solidFill>
                  <a:srgbClr val="1F2630"/>
                </a:solidFill>
                <a:latin typeface="IBM Plex Mono"/>
              </a:rPr>
              <a:t>15%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767828" y="8476233"/>
            <a:ext cx="3211830" cy="123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32"/>
              </a:lnSpc>
            </a:pPr>
            <a:r>
              <a:rPr sz="640" b="1" spc="50">
                <a:solidFill>
                  <a:srgbClr val="55606C"/>
                </a:solidFill>
                <a:latin typeface="IBM Plex Mono"/>
              </a:rPr>
              <a:t>ROUTED CORRECTLY, BY INPUT TYPE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7767828" y="8659113"/>
            <a:ext cx="1161288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73"/>
              </a:lnSpc>
            </a:pPr>
            <a:r>
              <a:rPr sz="760" b="1">
                <a:solidFill>
                  <a:srgbClr val="111418"/>
                </a:solidFill>
                <a:latin typeface="IBM Plex Sans"/>
              </a:rPr>
              <a:t>Free-text complaint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7767828" y="8791701"/>
            <a:ext cx="116128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36"/>
              </a:lnSpc>
            </a:pPr>
            <a:r>
              <a:rPr sz="640" b="0">
                <a:solidFill>
                  <a:srgbClr val="55606C"/>
                </a:solidFill>
                <a:latin typeface="IBM Plex Sans"/>
              </a:rPr>
              <a:t>n = 13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8974836" y="8677401"/>
            <a:ext cx="1675638" cy="91440"/>
          </a:xfrm>
          <a:prstGeom prst="rect">
            <a:avLst/>
          </a:prstGeom>
          <a:solidFill>
            <a:srgbClr val="E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5" name="Rectangle 254"/>
          <p:cNvSpPr/>
          <p:nvPr/>
        </p:nvSpPr>
        <p:spPr>
          <a:xfrm>
            <a:off x="8974836" y="8677401"/>
            <a:ext cx="1038895" cy="91440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6" name="TextBox 255"/>
          <p:cNvSpPr txBox="1"/>
          <p:nvPr/>
        </p:nvSpPr>
        <p:spPr>
          <a:xfrm>
            <a:off x="10696194" y="8649969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84"/>
              </a:lnSpc>
            </a:pPr>
            <a:r>
              <a:rPr sz="680" b="0">
                <a:solidFill>
                  <a:srgbClr val="1F2630"/>
                </a:solidFill>
                <a:latin typeface="IBM Plex Mono"/>
              </a:rPr>
              <a:t>62%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8974836" y="8796273"/>
            <a:ext cx="1675638" cy="91440"/>
          </a:xfrm>
          <a:prstGeom prst="rect">
            <a:avLst/>
          </a:prstGeom>
          <a:solidFill>
            <a:srgbClr val="E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8" name="Rectangle 257"/>
          <p:cNvSpPr/>
          <p:nvPr/>
        </p:nvSpPr>
        <p:spPr>
          <a:xfrm>
            <a:off x="8974836" y="8796273"/>
            <a:ext cx="251345" cy="9144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9" name="TextBox 258"/>
          <p:cNvSpPr txBox="1"/>
          <p:nvPr/>
        </p:nvSpPr>
        <p:spPr>
          <a:xfrm>
            <a:off x="10696194" y="8768841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84"/>
              </a:lnSpc>
            </a:pPr>
            <a:r>
              <a:rPr sz="680" b="0">
                <a:solidFill>
                  <a:srgbClr val="1F2630"/>
                </a:solidFill>
                <a:latin typeface="IBM Plex Mono"/>
              </a:rPr>
              <a:t>15%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7767828" y="8915145"/>
            <a:ext cx="1161288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73"/>
              </a:lnSpc>
            </a:pPr>
            <a:r>
              <a:rPr sz="760" b="1">
                <a:solidFill>
                  <a:srgbClr val="111418"/>
                </a:solidFill>
                <a:latin typeface="IBM Plex Sans"/>
              </a:rPr>
              <a:t>Service request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7767828" y="9047733"/>
            <a:ext cx="116128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36"/>
              </a:lnSpc>
            </a:pPr>
            <a:r>
              <a:rPr sz="640" b="0">
                <a:solidFill>
                  <a:srgbClr val="55606C"/>
                </a:solidFill>
                <a:latin typeface="IBM Plex Sans"/>
              </a:rPr>
              <a:t>or example text, n = 25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8974836" y="8933433"/>
            <a:ext cx="1675638" cy="91440"/>
          </a:xfrm>
          <a:prstGeom prst="rect">
            <a:avLst/>
          </a:prstGeom>
          <a:solidFill>
            <a:srgbClr val="E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3" name="Rectangle 262"/>
          <p:cNvSpPr/>
          <p:nvPr/>
        </p:nvSpPr>
        <p:spPr>
          <a:xfrm>
            <a:off x="8974836" y="8933433"/>
            <a:ext cx="1407535" cy="91440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4" name="TextBox 263"/>
          <p:cNvSpPr txBox="1"/>
          <p:nvPr/>
        </p:nvSpPr>
        <p:spPr>
          <a:xfrm>
            <a:off x="10696194" y="8906001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84"/>
              </a:lnSpc>
            </a:pPr>
            <a:r>
              <a:rPr sz="680" b="0">
                <a:solidFill>
                  <a:srgbClr val="1F2630"/>
                </a:solidFill>
                <a:latin typeface="IBM Plex Mono"/>
              </a:rPr>
              <a:t>84%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8974836" y="9052305"/>
            <a:ext cx="1675638" cy="91440"/>
          </a:xfrm>
          <a:prstGeom prst="rect">
            <a:avLst/>
          </a:prstGeom>
          <a:solidFill>
            <a:srgbClr val="E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6" name="Rectangle 265"/>
          <p:cNvSpPr/>
          <p:nvPr/>
        </p:nvSpPr>
        <p:spPr>
          <a:xfrm>
            <a:off x="8974836" y="9052305"/>
            <a:ext cx="1340510" cy="9144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7" name="TextBox 266"/>
          <p:cNvSpPr txBox="1"/>
          <p:nvPr/>
        </p:nvSpPr>
        <p:spPr>
          <a:xfrm>
            <a:off x="10696194" y="9024873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84"/>
              </a:lnSpc>
            </a:pPr>
            <a:r>
              <a:rPr sz="680" b="0">
                <a:solidFill>
                  <a:srgbClr val="1F2630"/>
                </a:solidFill>
                <a:latin typeface="IBM Plex Mono"/>
              </a:rPr>
              <a:t>80%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7767828" y="9171177"/>
            <a:ext cx="1161288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73"/>
              </a:lnSpc>
            </a:pPr>
            <a:r>
              <a:rPr sz="760" b="1">
                <a:solidFill>
                  <a:srgbClr val="111418"/>
                </a:solidFill>
                <a:latin typeface="IBM Plex Sans"/>
              </a:rPr>
              <a:t>Codebook row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7767828" y="9303765"/>
            <a:ext cx="116128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36"/>
              </a:lnSpc>
            </a:pPr>
            <a:r>
              <a:rPr sz="640" b="0">
                <a:solidFill>
                  <a:srgbClr val="55606C"/>
                </a:solidFill>
                <a:latin typeface="IBM Plex Sans"/>
              </a:rPr>
              <a:t>names the issue, n = 12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8974836" y="9189465"/>
            <a:ext cx="1675638" cy="91440"/>
          </a:xfrm>
          <a:prstGeom prst="rect">
            <a:avLst/>
          </a:prstGeom>
          <a:solidFill>
            <a:srgbClr val="E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1" name="Rectangle 270"/>
          <p:cNvSpPr/>
          <p:nvPr/>
        </p:nvSpPr>
        <p:spPr>
          <a:xfrm>
            <a:off x="8974836" y="9189465"/>
            <a:ext cx="1675638" cy="91440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2" name="TextBox 271"/>
          <p:cNvSpPr txBox="1"/>
          <p:nvPr/>
        </p:nvSpPr>
        <p:spPr>
          <a:xfrm>
            <a:off x="10696194" y="9162033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84"/>
              </a:lnSpc>
            </a:pPr>
            <a:r>
              <a:rPr sz="680" b="0">
                <a:solidFill>
                  <a:srgbClr val="1F2630"/>
                </a:solidFill>
                <a:latin typeface="IBM Plex Mono"/>
              </a:rPr>
              <a:t>100%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8974836" y="9308337"/>
            <a:ext cx="1675638" cy="91440"/>
          </a:xfrm>
          <a:prstGeom prst="rect">
            <a:avLst/>
          </a:prstGeom>
          <a:solidFill>
            <a:srgbClr val="E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4" name="Rectangle 273"/>
          <p:cNvSpPr/>
          <p:nvPr/>
        </p:nvSpPr>
        <p:spPr>
          <a:xfrm>
            <a:off x="8974836" y="9308337"/>
            <a:ext cx="418909" cy="9144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5" name="TextBox 274"/>
          <p:cNvSpPr txBox="1"/>
          <p:nvPr/>
        </p:nvSpPr>
        <p:spPr>
          <a:xfrm>
            <a:off x="10696194" y="9280905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84"/>
              </a:lnSpc>
            </a:pPr>
            <a:r>
              <a:rPr sz="680" b="0">
                <a:solidFill>
                  <a:srgbClr val="1F2630"/>
                </a:solidFill>
                <a:latin typeface="IBM Plex Mono"/>
              </a:rPr>
              <a:t>25%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7767828" y="9463785"/>
            <a:ext cx="3211830" cy="520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7"/>
              </a:lnSpc>
            </a:pPr>
            <a:r>
              <a:rPr sz="760" b="0">
                <a:solidFill>
                  <a:srgbClr val="55606C"/>
                </a:solidFill>
                <a:latin typeface="IBM Plex Sans"/>
              </a:rPr>
              <a:t>Free-text complaints are closest to what residents type, and T2 routes 62% of them correctly. Codebook rows name the issue, which makes them easy. T4 is weak on waste, where it had only 29 DEV rows.</a:t>
            </a:r>
          </a:p>
        </p:txBody>
      </p:sp>
      <p:sp>
        <p:nvSpPr>
          <p:cNvPr id="277" name="Panel 07"/>
          <p:cNvSpPr/>
          <p:nvPr/>
        </p:nvSpPr>
        <p:spPr>
          <a:xfrm>
            <a:off x="11253978" y="1527048"/>
            <a:ext cx="3486150" cy="3286252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8" name="TextBox 277"/>
          <p:cNvSpPr txBox="1"/>
          <p:nvPr/>
        </p:nvSpPr>
        <p:spPr>
          <a:xfrm>
            <a:off x="11391138" y="1664207"/>
            <a:ext cx="3211830" cy="1338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10"/>
              </a:lnSpc>
            </a:pPr>
            <a:r>
              <a:rPr sz="700" b="1" spc="100">
                <a:solidFill>
                  <a:srgbClr val="7A5800"/>
                </a:solidFill>
                <a:latin typeface="IBM Plex Mono"/>
              </a:rPr>
              <a:t>07  ·  SAFETY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11391138" y="1847088"/>
            <a:ext cx="3211830" cy="409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40"/>
              </a:lnSpc>
            </a:pPr>
            <a:r>
              <a:rPr sz="1400" b="1">
                <a:solidFill>
                  <a:srgbClr val="111418"/>
                </a:solidFill>
                <a:latin typeface="IBM Plex Sans Condensed"/>
              </a:rPr>
              <a:t>The guardrail blocks only known attacks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11391138" y="2329688"/>
            <a:ext cx="321183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14"/>
              </a:lnSpc>
            </a:pPr>
            <a:r>
              <a:rPr sz="780" b="1">
                <a:solidFill>
                  <a:srgbClr val="111418"/>
                </a:solidFill>
                <a:latin typeface="IBM Plex Sans"/>
              </a:rPr>
              <a:t>Mahika (buildings)</a:t>
            </a:r>
            <a:r>
              <a:rPr sz="680" b="0">
                <a:solidFill>
                  <a:srgbClr val="55606C"/>
                </a:solidFill>
                <a:latin typeface="IBM Plex Sans"/>
              </a:rPr>
              <a:t>   28 probes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11391138" y="2503424"/>
            <a:ext cx="3211830" cy="155448"/>
          </a:xfrm>
          <a:prstGeom prst="rect">
            <a:avLst/>
          </a:prstGeom>
          <a:solidFill>
            <a:srgbClr val="E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2" name="Rectangle 281"/>
          <p:cNvSpPr/>
          <p:nvPr/>
        </p:nvSpPr>
        <p:spPr>
          <a:xfrm>
            <a:off x="11391138" y="2503424"/>
            <a:ext cx="3211830" cy="155448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3" name="TextBox 282"/>
          <p:cNvSpPr txBox="1"/>
          <p:nvPr/>
        </p:nvSpPr>
        <p:spPr>
          <a:xfrm>
            <a:off x="11446002" y="2503424"/>
            <a:ext cx="3120390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84"/>
              </a:lnSpc>
            </a:pPr>
            <a:r>
              <a:rPr sz="680" b="1">
                <a:solidFill>
                  <a:srgbClr val="FFFFFF"/>
                </a:solidFill>
                <a:latin typeface="IBM Plex Sans"/>
              </a:rPr>
              <a:t>100% of attacks blocked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11391138" y="2677160"/>
            <a:ext cx="321183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84"/>
              </a:lnSpc>
            </a:pPr>
            <a:r>
              <a:rPr sz="680" b="0">
                <a:solidFill>
                  <a:srgbClr val="55606C"/>
                </a:solidFill>
                <a:latin typeface="IBM Plex Sans"/>
              </a:rPr>
              <a:t>Benign requests passed: 100%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11391138" y="2896615"/>
            <a:ext cx="321183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14"/>
              </a:lnSpc>
            </a:pPr>
            <a:r>
              <a:rPr sz="780" b="1">
                <a:solidFill>
                  <a:srgbClr val="111418"/>
                </a:solidFill>
                <a:latin typeface="IBM Plex Sans"/>
              </a:rPr>
              <a:t>Rutomo (waste)</a:t>
            </a:r>
            <a:r>
              <a:rPr sz="680" b="0">
                <a:solidFill>
                  <a:srgbClr val="55606C"/>
                </a:solidFill>
                <a:latin typeface="IBM Plex Sans"/>
              </a:rPr>
              <a:t>   30 probes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11391138" y="3070351"/>
            <a:ext cx="3211830" cy="155448"/>
          </a:xfrm>
          <a:prstGeom prst="rect">
            <a:avLst/>
          </a:prstGeom>
          <a:solidFill>
            <a:srgbClr val="E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7" name="Rectangle 286"/>
          <p:cNvSpPr/>
          <p:nvPr/>
        </p:nvSpPr>
        <p:spPr>
          <a:xfrm>
            <a:off x="11391138" y="3070351"/>
            <a:ext cx="2762173" cy="155448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8" name="TextBox 287"/>
          <p:cNvSpPr txBox="1"/>
          <p:nvPr/>
        </p:nvSpPr>
        <p:spPr>
          <a:xfrm>
            <a:off x="11446002" y="3070351"/>
            <a:ext cx="2670733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84"/>
              </a:lnSpc>
            </a:pPr>
            <a:r>
              <a:rPr sz="680" b="1">
                <a:solidFill>
                  <a:srgbClr val="FFFFFF"/>
                </a:solidFill>
                <a:latin typeface="IBM Plex Sans"/>
              </a:rPr>
              <a:t>86% of attacks blocked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11391138" y="3244087"/>
            <a:ext cx="321183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84"/>
              </a:lnSpc>
            </a:pPr>
            <a:r>
              <a:rPr sz="680" b="0">
                <a:solidFill>
                  <a:srgbClr val="55606C"/>
                </a:solidFill>
                <a:latin typeface="IBM Plex Sans"/>
              </a:rPr>
              <a:t>Benign requests passed: 94%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11391138" y="3463543"/>
            <a:ext cx="321183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14"/>
              </a:lnSpc>
            </a:pPr>
            <a:r>
              <a:rPr sz="780" b="1">
                <a:solidFill>
                  <a:srgbClr val="111418"/>
                </a:solidFill>
                <a:latin typeface="IBM Plex Sans"/>
              </a:rPr>
              <a:t>Mingchin (parks)</a:t>
            </a:r>
            <a:r>
              <a:rPr sz="680" b="0">
                <a:solidFill>
                  <a:srgbClr val="55606C"/>
                </a:solidFill>
                <a:latin typeface="IBM Plex Sans"/>
              </a:rPr>
              <a:t>   22 probes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11391138" y="3637279"/>
            <a:ext cx="3211830" cy="155448"/>
          </a:xfrm>
          <a:prstGeom prst="rect">
            <a:avLst/>
          </a:prstGeom>
          <a:solidFill>
            <a:srgbClr val="E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2" name="Rectangle 291"/>
          <p:cNvSpPr/>
          <p:nvPr/>
        </p:nvSpPr>
        <p:spPr>
          <a:xfrm>
            <a:off x="11391138" y="3637279"/>
            <a:ext cx="1348968" cy="155448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3" name="TextBox 292"/>
          <p:cNvSpPr txBox="1"/>
          <p:nvPr/>
        </p:nvSpPr>
        <p:spPr>
          <a:xfrm>
            <a:off x="12794970" y="3637279"/>
            <a:ext cx="1771421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84"/>
              </a:lnSpc>
            </a:pPr>
            <a:r>
              <a:rPr sz="680" b="1">
                <a:solidFill>
                  <a:srgbClr val="111418"/>
                </a:solidFill>
                <a:latin typeface="IBM Plex Sans"/>
              </a:rPr>
              <a:t>42% of attacks blocked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1391138" y="3811015"/>
            <a:ext cx="321183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84"/>
              </a:lnSpc>
            </a:pPr>
            <a:r>
              <a:rPr sz="680" b="0">
                <a:solidFill>
                  <a:srgbClr val="55606C"/>
                </a:solidFill>
                <a:latin typeface="IBM Plex Sans"/>
              </a:rPr>
              <a:t>Benign requests passed: 100%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1391138" y="4030472"/>
            <a:ext cx="3211830" cy="6456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7"/>
              </a:lnSpc>
            </a:pPr>
            <a:r>
              <a:rPr sz="760" b="0">
                <a:solidFill>
                  <a:srgbClr val="1F2630"/>
                </a:solidFill>
                <a:latin typeface="IBM Plex Sans"/>
              </a:rPr>
              <a:t>Our guardrail is a keyword and pattern filter. It misses polite or newly phrased attacks, which make up most of Mingchin's probes. Without a guard, instructions planted in a corpus record worked for every member who tried them, so we treat the corpus as untrusted input.</a:t>
            </a:r>
          </a:p>
        </p:txBody>
      </p:sp>
      <p:sp>
        <p:nvSpPr>
          <p:cNvPr id="296" name="Panel 08"/>
          <p:cNvSpPr/>
          <p:nvPr/>
        </p:nvSpPr>
        <p:spPr>
          <a:xfrm>
            <a:off x="11253978" y="4950460"/>
            <a:ext cx="3486150" cy="276453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7" name="TextBox 296"/>
          <p:cNvSpPr txBox="1"/>
          <p:nvPr/>
        </p:nvSpPr>
        <p:spPr>
          <a:xfrm>
            <a:off x="11391138" y="5087620"/>
            <a:ext cx="3211830" cy="1338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10"/>
              </a:lnSpc>
            </a:pPr>
            <a:r>
              <a:rPr sz="700" b="1" spc="100">
                <a:solidFill>
                  <a:srgbClr val="7A5800"/>
                </a:solidFill>
                <a:latin typeface="IBM Plex Mono"/>
              </a:rPr>
              <a:t>08  ·  LESSONS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1391138" y="5270500"/>
            <a:ext cx="3211830" cy="2138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40"/>
              </a:lnSpc>
            </a:pPr>
            <a:r>
              <a:rPr sz="1400" b="1">
                <a:solidFill>
                  <a:srgbClr val="111418"/>
                </a:solidFill>
                <a:latin typeface="IBM Plex Sans Condensed"/>
              </a:rPr>
              <a:t>What went wrong and what we changed</a:t>
            </a:r>
          </a:p>
        </p:txBody>
      </p:sp>
      <p:sp>
        <p:nvSpPr>
          <p:cNvPr id="299" name="Oval 298"/>
          <p:cNvSpPr/>
          <p:nvPr/>
        </p:nvSpPr>
        <p:spPr>
          <a:xfrm>
            <a:off x="11391138" y="5557520"/>
            <a:ext cx="219456" cy="219456"/>
          </a:xfrm>
          <a:prstGeom prst="ellipse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0" name="TextBox 299"/>
          <p:cNvSpPr txBox="1"/>
          <p:nvPr/>
        </p:nvSpPr>
        <p:spPr>
          <a:xfrm>
            <a:off x="11391138" y="5557520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40"/>
              </a:lnSpc>
            </a:pPr>
            <a:r>
              <a:rPr sz="800" b="1">
                <a:solidFill>
                  <a:srgbClr val="F2B705"/>
                </a:solidFill>
                <a:latin typeface="IBM Plex Mono"/>
              </a:rPr>
              <a:t>1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11702034" y="5575808"/>
            <a:ext cx="2900934" cy="1432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3"/>
              </a:lnSpc>
            </a:pPr>
            <a:r>
              <a:rPr sz="819" b="1">
                <a:solidFill>
                  <a:srgbClr val="111418"/>
                </a:solidFill>
                <a:latin typeface="IBM Plex Sans"/>
              </a:rPr>
              <a:t>A repetition penalty damaged the tickets.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11702034" y="5737352"/>
            <a:ext cx="2900934" cy="500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</a:pPr>
            <a:r>
              <a:rPr sz="760" b="0">
                <a:solidFill>
                  <a:srgbClr val="1F2630"/>
                </a:solidFill>
                <a:latin typeface="IBM Plex Sans"/>
              </a:rPr>
              <a:t>We set it to 1.15 to stop runaway output, but it also penalized prompt tokens the ticket has to copy, and T4 returned empty categories. Removing it raised T2 from 76% to 82%.</a:t>
            </a:r>
          </a:p>
        </p:txBody>
      </p:sp>
      <p:sp>
        <p:nvSpPr>
          <p:cNvPr id="303" name="Oval 302"/>
          <p:cNvSpPr/>
          <p:nvPr/>
        </p:nvSpPr>
        <p:spPr>
          <a:xfrm>
            <a:off x="11391138" y="6347968"/>
            <a:ext cx="219456" cy="219456"/>
          </a:xfrm>
          <a:prstGeom prst="ellipse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4" name="TextBox 303"/>
          <p:cNvSpPr txBox="1"/>
          <p:nvPr/>
        </p:nvSpPr>
        <p:spPr>
          <a:xfrm>
            <a:off x="11391138" y="6347968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40"/>
              </a:lnSpc>
            </a:pPr>
            <a:r>
              <a:rPr sz="800" b="1">
                <a:solidFill>
                  <a:srgbClr val="F2B705"/>
                </a:solidFill>
                <a:latin typeface="IBM Plex Mono"/>
              </a:rPr>
              <a:t>2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11702034" y="6366256"/>
            <a:ext cx="2900934" cy="1432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3"/>
              </a:lnSpc>
            </a:pPr>
            <a:r>
              <a:rPr sz="819" b="1">
                <a:solidFill>
                  <a:srgbClr val="111418"/>
                </a:solidFill>
                <a:latin typeface="IBM Plex Sans"/>
              </a:rPr>
              <a:t>Our first finetune had too little signal.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11702034" y="6527800"/>
            <a:ext cx="2900934" cy="3802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</a:pPr>
            <a:r>
              <a:rPr sz="760" b="0">
                <a:solidFill>
                  <a:srgbClr val="1F2630"/>
                </a:solidFill>
                <a:latin typeface="IBM Plex Sans"/>
              </a:rPr>
              <a:t>149 rows, one epoch and targets without a clarification question gave 0% routed correctly. With 269 rows, two epochs and card-based targets, T4 reached 50%.</a:t>
            </a:r>
          </a:p>
        </p:txBody>
      </p:sp>
      <p:sp>
        <p:nvSpPr>
          <p:cNvPr id="307" name="Oval 306"/>
          <p:cNvSpPr/>
          <p:nvPr/>
        </p:nvSpPr>
        <p:spPr>
          <a:xfrm>
            <a:off x="11391138" y="7017766"/>
            <a:ext cx="219456" cy="219456"/>
          </a:xfrm>
          <a:prstGeom prst="ellipse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8" name="TextBox 307"/>
          <p:cNvSpPr txBox="1"/>
          <p:nvPr/>
        </p:nvSpPr>
        <p:spPr>
          <a:xfrm>
            <a:off x="11391138" y="701776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40"/>
              </a:lnSpc>
            </a:pPr>
            <a:r>
              <a:rPr sz="800" b="1">
                <a:solidFill>
                  <a:srgbClr val="F2B705"/>
                </a:solidFill>
                <a:latin typeface="IBM Plex Mono"/>
              </a:rPr>
              <a:t>3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11702034" y="7036054"/>
            <a:ext cx="2900934" cy="1432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3"/>
              </a:lnSpc>
            </a:pPr>
            <a:r>
              <a:rPr sz="819" b="1">
                <a:solidFill>
                  <a:srgbClr val="111418"/>
                </a:solidFill>
                <a:latin typeface="IBM Plex Sans"/>
              </a:rPr>
              <a:t>Some inputs gave away the answer.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11702034" y="7197598"/>
            <a:ext cx="2900934" cy="3802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</a:pPr>
            <a:r>
              <a:rPr sz="760" b="0">
                <a:solidFill>
                  <a:srgbClr val="1F2630"/>
                </a:solidFill>
                <a:latin typeface="IBM Plex Sans"/>
              </a:rPr>
              <a:t>A few member inputs stated where the request had been routed. We removed those sentences and rewrote codebook rows as resident reports.</a:t>
            </a:r>
          </a:p>
        </p:txBody>
      </p:sp>
      <p:sp>
        <p:nvSpPr>
          <p:cNvPr id="311" name="Panel 09"/>
          <p:cNvSpPr/>
          <p:nvPr/>
        </p:nvSpPr>
        <p:spPr>
          <a:xfrm>
            <a:off x="11253978" y="7852156"/>
            <a:ext cx="3486150" cy="2261107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2" name="TextBox 311"/>
          <p:cNvSpPr txBox="1"/>
          <p:nvPr/>
        </p:nvSpPr>
        <p:spPr>
          <a:xfrm>
            <a:off x="11391138" y="7989316"/>
            <a:ext cx="3211830" cy="1338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10"/>
              </a:lnSpc>
            </a:pPr>
            <a:r>
              <a:rPr sz="700" b="1" spc="100">
                <a:solidFill>
                  <a:srgbClr val="7A5800"/>
                </a:solidFill>
                <a:latin typeface="IBM Plex Mono"/>
              </a:rPr>
              <a:t>09  ·  LIMITS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11391138" y="8172196"/>
            <a:ext cx="3211830" cy="2138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40"/>
              </a:lnSpc>
            </a:pPr>
            <a:r>
              <a:rPr sz="1400" b="1">
                <a:solidFill>
                  <a:srgbClr val="111418"/>
                </a:solidFill>
                <a:latin typeface="IBM Plex Sans Condensed"/>
              </a:rPr>
              <a:t>Limitations and next step</a:t>
            </a:r>
          </a:p>
        </p:txBody>
      </p:sp>
      <p:sp>
        <p:nvSpPr>
          <p:cNvPr id="314" name="Oval 313"/>
          <p:cNvSpPr/>
          <p:nvPr/>
        </p:nvSpPr>
        <p:spPr>
          <a:xfrm>
            <a:off x="11409426" y="8518652"/>
            <a:ext cx="54864" cy="54864"/>
          </a:xfrm>
          <a:prstGeom prst="ellipse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5" name="TextBox 314"/>
          <p:cNvSpPr txBox="1"/>
          <p:nvPr/>
        </p:nvSpPr>
        <p:spPr>
          <a:xfrm>
            <a:off x="11537442" y="8459216"/>
            <a:ext cx="3065526" cy="259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</a:pPr>
            <a:r>
              <a:rPr sz="760" b="1">
                <a:solidFill>
                  <a:srgbClr val="1F2630"/>
                </a:solidFill>
                <a:latin typeface="IBM Plex Sans"/>
              </a:rPr>
              <a:t>Small test set. </a:t>
            </a:r>
            <a:r>
              <a:rPr sz="760" b="0">
                <a:solidFill>
                  <a:srgbClr val="1F2630"/>
                </a:solidFill>
                <a:latin typeface="IBM Plex Sans"/>
              </a:rPr>
              <a:t>With 50 EVAL inputs, each accuracy can move about 13 points, so we rely only on large gaps.</a:t>
            </a:r>
          </a:p>
        </p:txBody>
      </p:sp>
      <p:sp>
        <p:nvSpPr>
          <p:cNvPr id="316" name="Oval 315"/>
          <p:cNvSpPr/>
          <p:nvPr/>
        </p:nvSpPr>
        <p:spPr>
          <a:xfrm>
            <a:off x="11409426" y="8842248"/>
            <a:ext cx="54864" cy="54864"/>
          </a:xfrm>
          <a:prstGeom prst="ellipse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7" name="TextBox 316"/>
          <p:cNvSpPr txBox="1"/>
          <p:nvPr/>
        </p:nvSpPr>
        <p:spPr>
          <a:xfrm>
            <a:off x="11537442" y="8782812"/>
            <a:ext cx="3065526" cy="259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</a:pPr>
            <a:r>
              <a:rPr sz="760" b="1">
                <a:solidFill>
                  <a:srgbClr val="1F2630"/>
                </a:solidFill>
                <a:latin typeface="IBM Plex Sans"/>
              </a:rPr>
              <a:t>Few realistic inputs. </a:t>
            </a:r>
            <a:r>
              <a:rPr sz="760" b="0">
                <a:solidFill>
                  <a:srgbClr val="1F2630"/>
                </a:solidFill>
                <a:latin typeface="IBM Plex Sans"/>
              </a:rPr>
              <a:t>Only 13 inputs are free text; on real resident wording we expect closer to 62% than 82%.</a:t>
            </a:r>
          </a:p>
        </p:txBody>
      </p:sp>
      <p:sp>
        <p:nvSpPr>
          <p:cNvPr id="318" name="Oval 317"/>
          <p:cNvSpPr/>
          <p:nvPr/>
        </p:nvSpPr>
        <p:spPr>
          <a:xfrm>
            <a:off x="11409426" y="9165844"/>
            <a:ext cx="54864" cy="54864"/>
          </a:xfrm>
          <a:prstGeom prst="ellipse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9" name="TextBox 318"/>
          <p:cNvSpPr txBox="1"/>
          <p:nvPr/>
        </p:nvSpPr>
        <p:spPr>
          <a:xfrm>
            <a:off x="11537442" y="9106408"/>
            <a:ext cx="3065526" cy="259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</a:pPr>
            <a:r>
              <a:rPr sz="760" b="1">
                <a:solidFill>
                  <a:srgbClr val="1F2630"/>
                </a:solidFill>
                <a:latin typeface="IBM Plex Sans"/>
              </a:rPr>
              <a:t>Resolution time is not an outcome. </a:t>
            </a:r>
            <a:r>
              <a:rPr sz="760" b="0">
                <a:solidFill>
                  <a:srgbClr val="1F2630"/>
                </a:solidFill>
                <a:latin typeface="IBM Plex Sans"/>
              </a:rPr>
              <a:t>Historical data cannot show that our API makes requests close faster.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11391138" y="9457436"/>
            <a:ext cx="3211830" cy="512064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1" name="TextBox 320"/>
          <p:cNvSpPr txBox="1"/>
          <p:nvPr/>
        </p:nvSpPr>
        <p:spPr>
          <a:xfrm>
            <a:off x="11500865" y="9521444"/>
            <a:ext cx="2992374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91"/>
              </a:lnSpc>
              <a:spcAft>
                <a:spcPts val="0"/>
              </a:spcAft>
            </a:pPr>
            <a:r>
              <a:rPr sz="660" b="1" spc="80">
                <a:solidFill>
                  <a:srgbClr val="F2B705"/>
                </a:solidFill>
                <a:latin typeface="IBM Plex Mono"/>
              </a:rPr>
              <a:t>NEXT STEP</a:t>
            </a:r>
          </a:p>
          <a:p>
            <a:pPr algn="l">
              <a:lnSpc>
                <a:spcPts val="983"/>
              </a:lnSpc>
            </a:pPr>
            <a:r>
              <a:rPr sz="819" b="1">
                <a:solidFill>
                  <a:srgbClr val="FFFFFF"/>
                </a:solidFill>
                <a:latin typeface="IBM Plex Sans"/>
              </a:rPr>
              <a:t>A pilot with City staff on real complaints, with staff confirming each routing decision.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